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2"/>
  </p:notesMasterIdLst>
  <p:handoutMasterIdLst>
    <p:handoutMasterId r:id="rId13"/>
  </p:handoutMasterIdLst>
  <p:sldIdLst>
    <p:sldId id="256" r:id="rId2"/>
    <p:sldId id="289" r:id="rId3"/>
    <p:sldId id="290" r:id="rId4"/>
    <p:sldId id="297" r:id="rId5"/>
    <p:sldId id="298" r:id="rId6"/>
    <p:sldId id="295" r:id="rId7"/>
    <p:sldId id="296" r:id="rId8"/>
    <p:sldId id="299" r:id="rId9"/>
    <p:sldId id="293" r:id="rId10"/>
    <p:sldId id="288" r:id="rId1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548" autoAdjust="0"/>
    <p:restoredTop sz="95033" autoAdjust="0"/>
  </p:normalViewPr>
  <p:slideViewPr>
    <p:cSldViewPr>
      <p:cViewPr varScale="1">
        <p:scale>
          <a:sx n="82" d="100"/>
          <a:sy n="82" d="100"/>
        </p:scale>
        <p:origin x="557"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n-US" kern="0" dirty="0">
                <a:solidFill>
                  <a:sysClr val="windowText" lastClr="000000"/>
                </a:solidFill>
              </a:rPr>
              <a:t>Either run locally or at Cloud workspace</a:t>
            </a: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4"/>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5"/>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7"/>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C7B060-DE26-7B6D-CA6D-53FA0A01F60C}"/>
              </a:ext>
            </a:extLst>
          </p:cNvPr>
          <p:cNvSpPr>
            <a:spLocks noGrp="1"/>
          </p:cNvSpPr>
          <p:nvPr>
            <p:ph type="title"/>
          </p:nvPr>
        </p:nvSpPr>
        <p:spPr/>
        <p:txBody>
          <a:bodyPr/>
          <a:lstStyle/>
          <a:p>
            <a:r>
              <a:rPr lang="es-ES" dirty="0"/>
              <a:t>RESULTADOS ASSESSMENT 1</a:t>
            </a:r>
          </a:p>
        </p:txBody>
      </p:sp>
      <p:sp>
        <p:nvSpPr>
          <p:cNvPr id="4" name="Marcador de pie de página 3">
            <a:extLst>
              <a:ext uri="{FF2B5EF4-FFF2-40B4-BE49-F238E27FC236}">
                <a16:creationId xmlns:a16="http://schemas.microsoft.com/office/drawing/2014/main" id="{00A33CC4-216D-1022-77CB-9102CB3E8B2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59AA8F1D-CA29-56C3-54BB-3E19C1444346}"/>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6" name="Título 1">
            <a:extLst>
              <a:ext uri="{FF2B5EF4-FFF2-40B4-BE49-F238E27FC236}">
                <a16:creationId xmlns:a16="http://schemas.microsoft.com/office/drawing/2014/main" id="{828EE0C9-51FD-4402-AA9B-E837CCCE382D}"/>
              </a:ext>
            </a:extLst>
          </p:cNvPr>
          <p:cNvSpPr txBox="1">
            <a:spLocks/>
          </p:cNvSpPr>
          <p:nvPr/>
        </p:nvSpPr>
        <p:spPr>
          <a:xfrm>
            <a:off x="565668" y="580768"/>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1. </a:t>
            </a:r>
            <a:r>
              <a:rPr lang="es-ES" kern="0" dirty="0" err="1"/>
              <a:t>Balanced</a:t>
            </a:r>
            <a:r>
              <a:rPr lang="es-ES" kern="0" dirty="0"/>
              <a:t> </a:t>
            </a:r>
            <a:r>
              <a:rPr lang="es-ES" kern="0" dirty="0" err="1"/>
              <a:t>Configuration</a:t>
            </a:r>
            <a:endParaRPr lang="es-ES" kern="0" dirty="0"/>
          </a:p>
        </p:txBody>
      </p:sp>
      <p:pic>
        <p:nvPicPr>
          <p:cNvPr id="8" name="Imagen 7" descr="Gráfico&#10;&#10;El contenido generado por IA puede ser incorrecto.">
            <a:extLst>
              <a:ext uri="{FF2B5EF4-FFF2-40B4-BE49-F238E27FC236}">
                <a16:creationId xmlns:a16="http://schemas.microsoft.com/office/drawing/2014/main" id="{10BC3A82-6200-F3D1-1415-E0A6EA77B38A}"/>
              </a:ext>
            </a:extLst>
          </p:cNvPr>
          <p:cNvPicPr>
            <a:picLocks noChangeAspect="1"/>
          </p:cNvPicPr>
          <p:nvPr/>
        </p:nvPicPr>
        <p:blipFill>
          <a:blip r:embed="rId2"/>
          <a:stretch>
            <a:fillRect/>
          </a:stretch>
        </p:blipFill>
        <p:spPr>
          <a:xfrm>
            <a:off x="392231" y="950934"/>
            <a:ext cx="3334472" cy="2675811"/>
          </a:xfrm>
          <a:prstGeom prst="rect">
            <a:avLst/>
          </a:prstGeom>
        </p:spPr>
      </p:pic>
      <p:sp>
        <p:nvSpPr>
          <p:cNvPr id="9" name="Título 1">
            <a:extLst>
              <a:ext uri="{FF2B5EF4-FFF2-40B4-BE49-F238E27FC236}">
                <a16:creationId xmlns:a16="http://schemas.microsoft.com/office/drawing/2014/main" id="{E2D6BC0E-89AE-916B-D765-C9CF8CB2B57D}"/>
              </a:ext>
            </a:extLst>
          </p:cNvPr>
          <p:cNvSpPr txBox="1">
            <a:spLocks/>
          </p:cNvSpPr>
          <p:nvPr/>
        </p:nvSpPr>
        <p:spPr>
          <a:xfrm>
            <a:off x="565668" y="3727453"/>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2. </a:t>
            </a:r>
            <a:r>
              <a:rPr lang="es-ES" kern="0" dirty="0" err="1"/>
              <a:t>Unbalanced</a:t>
            </a:r>
            <a:r>
              <a:rPr lang="es-ES" kern="0" dirty="0"/>
              <a:t> </a:t>
            </a:r>
            <a:r>
              <a:rPr lang="es-ES" kern="0" dirty="0" err="1"/>
              <a:t>Configuration</a:t>
            </a:r>
            <a:r>
              <a:rPr lang="es-ES" kern="0" dirty="0"/>
              <a:t> – </a:t>
            </a:r>
            <a:r>
              <a:rPr lang="es-ES" kern="0" dirty="0" err="1"/>
              <a:t>Phase</a:t>
            </a:r>
            <a:r>
              <a:rPr lang="es-ES" kern="0" dirty="0"/>
              <a:t> </a:t>
            </a:r>
            <a:r>
              <a:rPr lang="es-ES" kern="0" dirty="0" err="1"/>
              <a:t>Difference</a:t>
            </a:r>
            <a:endParaRPr lang="es-ES" kern="0" dirty="0"/>
          </a:p>
        </p:txBody>
      </p:sp>
      <p:pic>
        <p:nvPicPr>
          <p:cNvPr id="10" name="Imagen 9">
            <a:extLst>
              <a:ext uri="{FF2B5EF4-FFF2-40B4-BE49-F238E27FC236}">
                <a16:creationId xmlns:a16="http://schemas.microsoft.com/office/drawing/2014/main" id="{A7AAE93E-289B-5836-D779-D7506E544C8E}"/>
              </a:ext>
            </a:extLst>
          </p:cNvPr>
          <p:cNvPicPr>
            <a:picLocks noChangeAspect="1"/>
          </p:cNvPicPr>
          <p:nvPr/>
        </p:nvPicPr>
        <p:blipFill>
          <a:blip r:embed="rId3"/>
          <a:stretch>
            <a:fillRect/>
          </a:stretch>
        </p:blipFill>
        <p:spPr>
          <a:xfrm>
            <a:off x="372015" y="4045185"/>
            <a:ext cx="3560838" cy="2812815"/>
          </a:xfrm>
          <a:prstGeom prst="rect">
            <a:avLst/>
          </a:prstGeom>
        </p:spPr>
      </p:pic>
      <p:sp>
        <p:nvSpPr>
          <p:cNvPr id="13" name="CuadroTexto 12">
            <a:extLst>
              <a:ext uri="{FF2B5EF4-FFF2-40B4-BE49-F238E27FC236}">
                <a16:creationId xmlns:a16="http://schemas.microsoft.com/office/drawing/2014/main" id="{BE95D7DA-0E11-AA8B-923C-B3D69C295455}"/>
              </a:ext>
            </a:extLst>
          </p:cNvPr>
          <p:cNvSpPr txBox="1"/>
          <p:nvPr/>
        </p:nvSpPr>
        <p:spPr>
          <a:xfrm>
            <a:off x="3965510" y="1169152"/>
            <a:ext cx="7899629" cy="2062103"/>
          </a:xfrm>
          <a:prstGeom prst="rect">
            <a:avLst/>
          </a:prstGeom>
          <a:noFill/>
        </p:spPr>
        <p:txBody>
          <a:bodyPr wrap="square">
            <a:spAutoFit/>
          </a:bodyPr>
          <a:lstStyle/>
          <a:p>
            <a:pPr algn="just"/>
            <a:r>
              <a:rPr lang="es-ES" sz="1600" dirty="0"/>
              <a:t>Se observa una respuesta espectral completamente plana. Al usar mismas longitudes (Lu = 25 </a:t>
            </a:r>
            <a:r>
              <a:rPr lang="es-ES" sz="1600" dirty="0" err="1"/>
              <a:t>um</a:t>
            </a:r>
            <a:r>
              <a:rPr lang="es-ES" sz="1600" dirty="0"/>
              <a:t> y </a:t>
            </a:r>
            <a:r>
              <a:rPr lang="es-ES" sz="1600" dirty="0" err="1"/>
              <a:t>Ld</a:t>
            </a:r>
            <a:r>
              <a:rPr lang="es-ES" sz="1600" dirty="0"/>
              <a:t> = 25 </a:t>
            </a:r>
            <a:r>
              <a:rPr lang="es-ES" sz="1600" dirty="0" err="1"/>
              <a:t>um</a:t>
            </a:r>
            <a:r>
              <a:rPr lang="es-ES" sz="1600" dirty="0"/>
              <a:t>) y el mismo índice efectivo del SOI para ambos brazos del interferómetro, la diferencia de fase generada es nula para todas las longitudes de onda simuladas. Al ser un escenario ideal sin pérdidas de propagación y sin pérdidas por exceso de acopladores (</a:t>
            </a:r>
            <a:r>
              <a:rPr lang="es-ES" sz="1600" dirty="0" err="1"/>
              <a:t>alpha</a:t>
            </a:r>
            <a:r>
              <a:rPr lang="es-ES" sz="1600" dirty="0"/>
              <a:t>=0 y gamma=0), y asumiendo divisores ideales al 50%, la amplitud máxima de transmisión alcanza un valor de 1. En consecuencia, toda la potencia óptica interfiere de manera constante a lo largo de todo el espectro, resultando en un FSR infinito al no existir ninguna oscilación o dependencia con la longitud de onda.</a:t>
            </a:r>
          </a:p>
        </p:txBody>
      </p:sp>
      <p:sp>
        <p:nvSpPr>
          <p:cNvPr id="15" name="CuadroTexto 14">
            <a:extLst>
              <a:ext uri="{FF2B5EF4-FFF2-40B4-BE49-F238E27FC236}">
                <a16:creationId xmlns:a16="http://schemas.microsoft.com/office/drawing/2014/main" id="{9C2DA9CC-A6BF-8644-0980-52DE978AE002}"/>
              </a:ext>
            </a:extLst>
          </p:cNvPr>
          <p:cNvSpPr txBox="1"/>
          <p:nvPr/>
        </p:nvSpPr>
        <p:spPr>
          <a:xfrm>
            <a:off x="4002054" y="4288389"/>
            <a:ext cx="7826539" cy="2062103"/>
          </a:xfrm>
          <a:prstGeom prst="rect">
            <a:avLst/>
          </a:prstGeom>
          <a:noFill/>
        </p:spPr>
        <p:txBody>
          <a:bodyPr wrap="square">
            <a:spAutoFit/>
          </a:bodyPr>
          <a:lstStyle/>
          <a:p>
            <a:pPr algn="just"/>
            <a:r>
              <a:rPr lang="es-ES" sz="1600" dirty="0"/>
              <a:t>Para un desbalance por diferencia de fase , se mantiene (Lu = 25 </a:t>
            </a:r>
            <a:r>
              <a:rPr lang="es-ES" sz="1600" dirty="0" err="1"/>
              <a:t>um</a:t>
            </a:r>
            <a:r>
              <a:rPr lang="es-ES" sz="1600" dirty="0"/>
              <a:t> y </a:t>
            </a:r>
            <a:r>
              <a:rPr lang="es-ES" sz="1600" dirty="0" err="1"/>
              <a:t>Ld</a:t>
            </a:r>
            <a:r>
              <a:rPr lang="es-ES" sz="1600" dirty="0"/>
              <a:t> = 25 </a:t>
            </a:r>
            <a:r>
              <a:rPr lang="es-ES" sz="1600" dirty="0" err="1"/>
              <a:t>um</a:t>
            </a:r>
            <a:r>
              <a:rPr lang="es-ES" sz="1600" dirty="0"/>
              <a:t>), pero se cambia el índice efectivo con diferentes entornos para las guías de nitruro de silicio (</a:t>
            </a:r>
            <a:r>
              <a:rPr lang="es-ES" sz="1600" dirty="0" err="1"/>
              <a:t>SiN</a:t>
            </a:r>
            <a:r>
              <a:rPr lang="es-ES" sz="1600" dirty="0"/>
              <a:t>), usando recubrimiento para un brazo y dejándolo expuesto al aire para el otro. Esta asimetría de materiales provoca que la luz viaje a velocidades ligeramente distintas en cada camino, acumulando un desfase gradual. Debido a que el contraste del índice efectivo entre el recubrimiento y el aire produce un cambio pequeño, el espectro resultante muestra un FSR extremadamente grande, lo que solo permite visualizar una fracción muy leve de la curva de interferencia dentro de la ventana de simulación de 1.50 a 1.60 </a:t>
            </a:r>
            <a:r>
              <a:rPr lang="es-ES" sz="1600" dirty="0" err="1"/>
              <a:t>um</a:t>
            </a:r>
            <a:r>
              <a:rPr lang="es-ES" sz="1600" dirty="0"/>
              <a:t>.</a:t>
            </a:r>
          </a:p>
        </p:txBody>
      </p:sp>
    </p:spTree>
    <p:extLst>
      <p:ext uri="{BB962C8B-B14F-4D97-AF65-F5344CB8AC3E}">
        <p14:creationId xmlns:p14="http://schemas.microsoft.com/office/powerpoint/2010/main" val="1453711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788F-0428-B8FC-27CF-612E7A93847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82E0126-221F-4999-D59E-3A0112A6B5E9}"/>
              </a:ext>
            </a:extLst>
          </p:cNvPr>
          <p:cNvSpPr>
            <a:spLocks noGrp="1"/>
          </p:cNvSpPr>
          <p:nvPr>
            <p:ph type="title"/>
          </p:nvPr>
        </p:nvSpPr>
        <p:spPr/>
        <p:txBody>
          <a:bodyPr/>
          <a:lstStyle/>
          <a:p>
            <a:r>
              <a:rPr lang="es-ES" dirty="0"/>
              <a:t>RESULTADOS ASSESSMENT 1</a:t>
            </a:r>
          </a:p>
        </p:txBody>
      </p:sp>
      <p:sp>
        <p:nvSpPr>
          <p:cNvPr id="4" name="Marcador de pie de página 3">
            <a:extLst>
              <a:ext uri="{FF2B5EF4-FFF2-40B4-BE49-F238E27FC236}">
                <a16:creationId xmlns:a16="http://schemas.microsoft.com/office/drawing/2014/main" id="{05319472-C994-5F68-A053-96EAD16877F7}"/>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A15C0111-4B25-7624-1BD6-5055B1B0E10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6" name="Título 1">
            <a:extLst>
              <a:ext uri="{FF2B5EF4-FFF2-40B4-BE49-F238E27FC236}">
                <a16:creationId xmlns:a16="http://schemas.microsoft.com/office/drawing/2014/main" id="{C971B12A-7795-2D76-9EC8-A21BD3E51A66}"/>
              </a:ext>
            </a:extLst>
          </p:cNvPr>
          <p:cNvSpPr txBox="1">
            <a:spLocks/>
          </p:cNvSpPr>
          <p:nvPr/>
        </p:nvSpPr>
        <p:spPr>
          <a:xfrm>
            <a:off x="609600" y="687189"/>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3. </a:t>
            </a:r>
            <a:r>
              <a:rPr lang="es-ES" kern="0" dirty="0" err="1"/>
              <a:t>Unbalanced</a:t>
            </a:r>
            <a:r>
              <a:rPr lang="es-ES" kern="0" dirty="0"/>
              <a:t> </a:t>
            </a:r>
            <a:r>
              <a:rPr lang="es-ES" kern="0" dirty="0" err="1"/>
              <a:t>Configuration</a:t>
            </a:r>
            <a:r>
              <a:rPr lang="es-ES" kern="0" dirty="0"/>
              <a:t> – </a:t>
            </a:r>
            <a:r>
              <a:rPr lang="es-ES" kern="0" dirty="0" err="1"/>
              <a:t>Delay</a:t>
            </a:r>
            <a:r>
              <a:rPr lang="es-ES" kern="0" dirty="0"/>
              <a:t> </a:t>
            </a:r>
            <a:r>
              <a:rPr lang="es-ES" kern="0" dirty="0" err="1"/>
              <a:t>Umbalance</a:t>
            </a:r>
            <a:endParaRPr lang="es-ES" kern="0" dirty="0"/>
          </a:p>
        </p:txBody>
      </p:sp>
      <p:pic>
        <p:nvPicPr>
          <p:cNvPr id="8" name="Imagen 7">
            <a:extLst>
              <a:ext uri="{FF2B5EF4-FFF2-40B4-BE49-F238E27FC236}">
                <a16:creationId xmlns:a16="http://schemas.microsoft.com/office/drawing/2014/main" id="{C4CE3470-D6EA-D1DE-A975-A1E79690E074}"/>
              </a:ext>
            </a:extLst>
          </p:cNvPr>
          <p:cNvPicPr>
            <a:picLocks noChangeAspect="1"/>
          </p:cNvPicPr>
          <p:nvPr/>
        </p:nvPicPr>
        <p:blipFill>
          <a:blip r:embed="rId2"/>
          <a:stretch>
            <a:fillRect/>
          </a:stretch>
        </p:blipFill>
        <p:spPr>
          <a:xfrm>
            <a:off x="457200" y="1186287"/>
            <a:ext cx="3703478" cy="2971927"/>
          </a:xfrm>
          <a:prstGeom prst="rect">
            <a:avLst/>
          </a:prstGeom>
        </p:spPr>
      </p:pic>
      <p:sp>
        <p:nvSpPr>
          <p:cNvPr id="13" name="CuadroTexto 12">
            <a:extLst>
              <a:ext uri="{FF2B5EF4-FFF2-40B4-BE49-F238E27FC236}">
                <a16:creationId xmlns:a16="http://schemas.microsoft.com/office/drawing/2014/main" id="{050610C9-D74B-FFEA-4330-607EDD607E2F}"/>
              </a:ext>
            </a:extLst>
          </p:cNvPr>
          <p:cNvSpPr txBox="1"/>
          <p:nvPr/>
        </p:nvSpPr>
        <p:spPr>
          <a:xfrm>
            <a:off x="4206163" y="1524000"/>
            <a:ext cx="7650322" cy="2062103"/>
          </a:xfrm>
          <a:prstGeom prst="rect">
            <a:avLst/>
          </a:prstGeom>
          <a:noFill/>
        </p:spPr>
        <p:txBody>
          <a:bodyPr wrap="square">
            <a:spAutoFit/>
          </a:bodyPr>
          <a:lstStyle/>
          <a:p>
            <a:pPr algn="just"/>
            <a:r>
              <a:rPr lang="es-ES" sz="1600" dirty="0"/>
              <a:t>En la configuración desbalanceada por retardo, volvemos con el material SOI idéntico para ambos caminos, pero hacemos las guías </a:t>
            </a:r>
            <a:r>
              <a:rPr lang="es-ES" sz="1600" dirty="0" err="1"/>
              <a:t>asimetricas</a:t>
            </a:r>
            <a:r>
              <a:rPr lang="es-ES" sz="1600" dirty="0"/>
              <a:t> (Lu = 25 </a:t>
            </a:r>
            <a:r>
              <a:rPr lang="es-ES" sz="1600" dirty="0" err="1"/>
              <a:t>um</a:t>
            </a:r>
            <a:r>
              <a:rPr lang="es-ES" sz="1600" dirty="0"/>
              <a:t> frente a </a:t>
            </a:r>
            <a:r>
              <a:rPr lang="es-ES" sz="1600" dirty="0" err="1"/>
              <a:t>Ld</a:t>
            </a:r>
            <a:r>
              <a:rPr lang="es-ES" sz="1600" dirty="0"/>
              <a:t> = 5 </a:t>
            </a:r>
            <a:r>
              <a:rPr lang="es-ES" sz="1600" dirty="0" err="1"/>
              <a:t>um</a:t>
            </a:r>
            <a:r>
              <a:rPr lang="es-ES" sz="1600" dirty="0"/>
              <a:t>). Esta diferencia de camino óptico fuerza a las ondas a recombinarse en el segundo acoplador con un desfase fuertemente dependiente de la longitud de onda. El resultado visual es de un filtro </a:t>
            </a:r>
            <a:r>
              <a:rPr lang="es-ES" sz="1600" dirty="0" err="1"/>
              <a:t>interferométrico</a:t>
            </a:r>
            <a:r>
              <a:rPr lang="es-ES" sz="1600" dirty="0"/>
              <a:t>, mostrando un patrón de franjas senoidales periódicas muy bien definidas. Gracias a la ausencia total de pérdidas (</a:t>
            </a:r>
            <a:r>
              <a:rPr lang="es-ES" sz="1600" i="1" dirty="0" err="1"/>
              <a:t>alpha</a:t>
            </a:r>
            <a:r>
              <a:rPr lang="es-ES" sz="1600" dirty="0"/>
              <a:t> = 0, </a:t>
            </a:r>
            <a:r>
              <a:rPr lang="es-ES" sz="1600" i="1" dirty="0"/>
              <a:t>gamma</a:t>
            </a:r>
            <a:r>
              <a:rPr lang="es-ES" sz="1600" dirty="0"/>
              <a:t> = 0) y al uso de acopladores perfectamente balanceados al 50%, la amplitud de las oscilaciones van de 0 a 1, definiendo así un FSR finito y fácilmente medible.</a:t>
            </a:r>
          </a:p>
        </p:txBody>
      </p:sp>
    </p:spTree>
    <p:extLst>
      <p:ext uri="{BB962C8B-B14F-4D97-AF65-F5344CB8AC3E}">
        <p14:creationId xmlns:p14="http://schemas.microsoft.com/office/powerpoint/2010/main" val="2576391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6</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15789" y="3352800"/>
            <a:ext cx="6547012" cy="46166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7" name="Imagen 6">
            <a:extLst>
              <a:ext uri="{FF2B5EF4-FFF2-40B4-BE49-F238E27FC236}">
                <a16:creationId xmlns:a16="http://schemas.microsoft.com/office/drawing/2014/main" id="{9AA74071-27EF-9BC4-9F05-26666E76AF90}"/>
              </a:ext>
            </a:extLst>
          </p:cNvPr>
          <p:cNvPicPr>
            <a:picLocks noChangeAspect="1"/>
          </p:cNvPicPr>
          <p:nvPr/>
        </p:nvPicPr>
        <p:blipFill>
          <a:blip r:embed="rId7"/>
          <a:stretch>
            <a:fillRect/>
          </a:stretch>
        </p:blipFill>
        <p:spPr>
          <a:xfrm>
            <a:off x="7497538" y="3034141"/>
            <a:ext cx="4153253" cy="3332857"/>
          </a:xfrm>
          <a:prstGeom prst="rect">
            <a:avLst/>
          </a:prstGeom>
        </p:spPr>
      </p:pic>
      <p:sp>
        <p:nvSpPr>
          <p:cNvPr id="9" name="Rectangle 2">
            <a:extLst>
              <a:ext uri="{FF2B5EF4-FFF2-40B4-BE49-F238E27FC236}">
                <a16:creationId xmlns:a16="http://schemas.microsoft.com/office/drawing/2014/main" id="{016AD86E-7044-F629-02E0-95FD9BDD18DC}"/>
              </a:ext>
            </a:extLst>
          </p:cNvPr>
          <p:cNvSpPr>
            <a:spLocks noChangeArrowheads="1"/>
          </p:cNvSpPr>
          <p:nvPr/>
        </p:nvSpPr>
        <p:spPr bwMode="auto">
          <a:xfrm>
            <a:off x="574595" y="3979269"/>
            <a:ext cx="6629400" cy="2046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lvl="0" algn="just" eaLnBrk="0" fontAlgn="base" hangingPunct="0">
              <a:spcBef>
                <a:spcPct val="0"/>
              </a:spcBef>
              <a:spcAft>
                <a:spcPct val="0"/>
              </a:spcAft>
            </a:pPr>
            <a:r>
              <a:rPr kumimoji="0" lang="es-ES" altLang="es-ES" sz="1600" b="0" i="0" u="none" strike="noStrike" cap="none" normalizeH="0" baseline="0" dirty="0">
                <a:ln>
                  <a:noFill/>
                </a:ln>
                <a:solidFill>
                  <a:schemeClr val="tx1"/>
                </a:solidFill>
                <a:effectLst/>
                <a:latin typeface="Google Sans Text"/>
              </a:rPr>
              <a:t>Para </a:t>
            </a:r>
            <a:r>
              <a:rPr kumimoji="0" lang="es-ES" altLang="es-ES" sz="1600" b="0" u="none" strike="noStrike" cap="none" normalizeH="0" baseline="0" dirty="0">
                <a:ln>
                  <a:noFill/>
                </a:ln>
                <a:solidFill>
                  <a:schemeClr val="tx1"/>
                </a:solidFill>
                <a:effectLst/>
                <a:latin typeface="Google Sans Text"/>
              </a:rPr>
              <a:t>lograr un FSR de 40 </a:t>
            </a:r>
            <a:r>
              <a:rPr kumimoji="0" lang="es-ES" altLang="es-ES" sz="1600" b="0" i="0" u="none" strike="noStrike" cap="none" normalizeH="0" baseline="0" dirty="0">
                <a:ln>
                  <a:noFill/>
                </a:ln>
                <a:solidFill>
                  <a:schemeClr val="tx1"/>
                </a:solidFill>
                <a:effectLst/>
                <a:latin typeface="Google Sans Text"/>
              </a:rPr>
              <a:t>nm a una longitud de onda de 1550 nm</a:t>
            </a:r>
            <a:r>
              <a:rPr kumimoji="0" lang="es-ES" altLang="es-ES" sz="1600" b="0" i="0" u="none" strike="noStrike" cap="none" normalizeH="0" dirty="0">
                <a:ln>
                  <a:noFill/>
                </a:ln>
                <a:solidFill>
                  <a:schemeClr val="tx1"/>
                </a:solidFill>
                <a:effectLst/>
                <a:latin typeface="Google Sans Text"/>
              </a:rPr>
              <a:t> </a:t>
            </a:r>
            <a:r>
              <a:rPr kumimoji="0" lang="es-ES" altLang="es-ES" sz="1600" b="0" i="0" u="none" strike="noStrike" cap="none" normalizeH="0" baseline="0" dirty="0">
                <a:ln>
                  <a:noFill/>
                </a:ln>
                <a:solidFill>
                  <a:schemeClr val="tx1"/>
                </a:solidFill>
                <a:effectLst/>
                <a:latin typeface="Google Sans Text"/>
              </a:rPr>
              <a:t>es necesario aplicar un desbalance de longitud entre los brazos del MZI. Interpolando el índice efectivo de la guía SOI a 1.55nm</a:t>
            </a:r>
            <a:r>
              <a:rPr kumimoji="0" lang="es-ES" altLang="es-ES" sz="1600" b="0" i="0" u="none" strike="noStrike" cap="none" normalizeH="0" dirty="0">
                <a:ln>
                  <a:noFill/>
                </a:ln>
                <a:solidFill>
                  <a:schemeClr val="tx1"/>
                </a:solidFill>
                <a:effectLst/>
                <a:latin typeface="Google Sans Text"/>
              </a:rPr>
              <a:t> </a:t>
            </a:r>
            <a:r>
              <a:rPr kumimoji="0" lang="es-ES" altLang="es-ES" sz="1600" b="0" i="0" u="none" strike="noStrike" cap="none" normalizeH="0" baseline="0" dirty="0">
                <a:ln>
                  <a:noFill/>
                </a:ln>
                <a:solidFill>
                  <a:schemeClr val="tx1"/>
                </a:solidFill>
                <a:effectLst/>
                <a:latin typeface="Google Sans Text"/>
              </a:rPr>
              <a:t>y aplicando la formula de </a:t>
            </a:r>
            <a:r>
              <a:rPr kumimoji="0" lang="es-ES" altLang="es-ES" sz="1600" b="0" i="0" u="none" strike="noStrike" cap="none" normalizeH="0" baseline="0" dirty="0" err="1">
                <a:ln>
                  <a:noFill/>
                </a:ln>
                <a:solidFill>
                  <a:schemeClr val="tx1"/>
                </a:solidFill>
                <a:effectLst/>
                <a:latin typeface="Google Sans Text"/>
              </a:rPr>
              <a:t>delta_L</a:t>
            </a:r>
            <a:r>
              <a:rPr kumimoji="0" lang="es-ES" altLang="es-ES" sz="1600" b="0" i="0" u="none" strike="noStrike" cap="none" normalizeH="0" baseline="0" dirty="0">
                <a:ln>
                  <a:noFill/>
                </a:ln>
                <a:solidFill>
                  <a:schemeClr val="tx1"/>
                </a:solidFill>
                <a:effectLst/>
                <a:latin typeface="Google Sans Text"/>
              </a:rPr>
              <a:t>, </a:t>
            </a:r>
            <a:r>
              <a:rPr lang="es-ES" altLang="es-ES" sz="1600" dirty="0">
                <a:latin typeface="Google Sans Text"/>
              </a:rPr>
              <a:t>tenemos </a:t>
            </a:r>
            <a:r>
              <a:rPr kumimoji="0" lang="es-ES" altLang="es-ES" sz="1600" b="0" i="0" u="none" strike="noStrike" cap="none" normalizeH="0" baseline="0" dirty="0">
                <a:ln>
                  <a:noFill/>
                </a:ln>
                <a:solidFill>
                  <a:schemeClr val="tx1"/>
                </a:solidFill>
                <a:effectLst/>
                <a:latin typeface="Google Sans Text"/>
              </a:rPr>
              <a:t>que la diferencia geométrica requerida es de </a:t>
            </a:r>
            <a:r>
              <a:rPr lang="es-ES" sz="1600" b="1" dirty="0">
                <a:latin typeface="Google Sans Text"/>
              </a:rPr>
              <a:t>13.9899</a:t>
            </a:r>
            <a:r>
              <a:rPr lang="es-ES" altLang="es-ES" sz="1600" b="1" dirty="0">
                <a:latin typeface="Google Sans Text"/>
              </a:rPr>
              <a:t> nm.</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s-ES" altLang="es-ES" sz="1600" b="0" i="0" u="none" strike="noStrike" cap="none" normalizeH="0" baseline="0" dirty="0">
                <a:ln>
                  <a:noFill/>
                </a:ln>
                <a:solidFill>
                  <a:schemeClr val="tx1"/>
                </a:solidFill>
                <a:effectLst/>
                <a:latin typeface="Google Sans Text"/>
              </a:rPr>
              <a:t>Al simular el modelo matemático con este valor de </a:t>
            </a:r>
            <a:r>
              <a:rPr kumimoji="0" lang="es-ES" altLang="es-ES" sz="1600" b="0" i="0" u="none" strike="noStrike" cap="none" normalizeH="0" baseline="0" dirty="0" err="1">
                <a:ln>
                  <a:noFill/>
                </a:ln>
                <a:solidFill>
                  <a:schemeClr val="tx1"/>
                </a:solidFill>
                <a:effectLst/>
                <a:latin typeface="Google Sans Text"/>
              </a:rPr>
              <a:t>delta_L</a:t>
            </a:r>
            <a:r>
              <a:rPr lang="es-ES" altLang="es-ES" sz="1600" dirty="0">
                <a:latin typeface="Google Sans Text"/>
              </a:rPr>
              <a:t>, </a:t>
            </a:r>
            <a:r>
              <a:rPr kumimoji="0" lang="es-ES" altLang="es-ES" sz="1600" b="0" i="0" u="none" strike="noStrike" cap="none" normalizeH="0" baseline="0" dirty="0">
                <a:ln>
                  <a:noFill/>
                </a:ln>
                <a:solidFill>
                  <a:schemeClr val="tx1"/>
                </a:solidFill>
                <a:effectLst/>
                <a:latin typeface="Google Sans Text"/>
              </a:rPr>
              <a:t>la función de transferencia confirma el diseño. La gráfica muestra el patrón oscilatorio característico de un filtro </a:t>
            </a:r>
            <a:r>
              <a:rPr kumimoji="0" lang="es-ES" altLang="es-ES" sz="1600" b="0" i="0" u="none" strike="noStrike" cap="none" normalizeH="0" baseline="0" dirty="0" err="1">
                <a:ln>
                  <a:noFill/>
                </a:ln>
                <a:solidFill>
                  <a:schemeClr val="tx1"/>
                </a:solidFill>
                <a:effectLst/>
                <a:latin typeface="Google Sans Text"/>
              </a:rPr>
              <a:t>interferométrico</a:t>
            </a:r>
            <a:r>
              <a:rPr kumimoji="0" lang="es-ES" altLang="es-ES" sz="1600" b="0" i="0" u="none" strike="noStrike" cap="none" normalizeH="0" baseline="0" dirty="0">
                <a:ln>
                  <a:noFill/>
                </a:ln>
                <a:solidFill>
                  <a:schemeClr val="tx1"/>
                </a:solidFill>
                <a:effectLst/>
                <a:latin typeface="Google Sans Text"/>
              </a:rPr>
              <a:t>, donde la distancia espectral entre dos picos consecutivos de transmisión </a:t>
            </a:r>
            <a:r>
              <a:rPr lang="es-ES" altLang="es-ES" sz="1600" dirty="0">
                <a:latin typeface="Google Sans Text"/>
              </a:rPr>
              <a:t>es </a:t>
            </a:r>
            <a:r>
              <a:rPr kumimoji="0" lang="es-ES" altLang="es-ES" sz="1600" b="0" i="0" u="none" strike="noStrike" cap="none" normalizeH="0" baseline="0" dirty="0">
                <a:ln>
                  <a:noFill/>
                </a:ln>
                <a:solidFill>
                  <a:schemeClr val="tx1"/>
                </a:solidFill>
                <a:effectLst/>
                <a:latin typeface="Google Sans Text"/>
              </a:rPr>
              <a:t>de 40 nm.</a:t>
            </a:r>
            <a:endParaRPr kumimoji="0" lang="es-ES" altLang="es-ES"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37098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023557B-4A53-1289-E90C-6DB7C97DECAA}"/>
              </a:ext>
            </a:extLst>
          </p:cNvPr>
          <p:cNvSpPr>
            <a:spLocks noGrp="1"/>
          </p:cNvSpPr>
          <p:nvPr>
            <p:ph type="title"/>
          </p:nvPr>
        </p:nvSpPr>
        <p:spPr>
          <a:xfrm>
            <a:off x="600075" y="316301"/>
            <a:ext cx="10991850" cy="307777"/>
          </a:xfrm>
        </p:spPr>
        <p:txBody>
          <a:bodyPr/>
          <a:lstStyle/>
          <a:p>
            <a:r>
              <a:rPr lang="es-ES" dirty="0"/>
              <a:t>RESULTADO ASSESSMENT 3</a:t>
            </a:r>
          </a:p>
        </p:txBody>
      </p:sp>
      <p:sp>
        <p:nvSpPr>
          <p:cNvPr id="4" name="Marcador de pie de página 3">
            <a:extLst>
              <a:ext uri="{FF2B5EF4-FFF2-40B4-BE49-F238E27FC236}">
                <a16:creationId xmlns:a16="http://schemas.microsoft.com/office/drawing/2014/main" id="{D7450D25-12E4-707F-C74B-5DD97197EAE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EA19DD35-F68B-5DB2-B523-F3DD8B1DF7C5}"/>
              </a:ext>
            </a:extLst>
          </p:cNvPr>
          <p:cNvSpPr>
            <a:spLocks noGrp="1"/>
          </p:cNvSpPr>
          <p:nvPr>
            <p:ph type="sldNum" sz="quarter" idx="7"/>
          </p:nvPr>
        </p:nvSpPr>
        <p:spPr/>
        <p:txBody>
          <a:bodyPr/>
          <a:lstStyle/>
          <a:p>
            <a:fld id="{B6F15528-21DE-4FAA-801E-634DDDAF4B2B}" type="slidenum">
              <a:rPr lang="es-ES" smtClean="0"/>
              <a:t>8</a:t>
            </a:fld>
            <a:endParaRPr lang="es-ES"/>
          </a:p>
        </p:txBody>
      </p:sp>
      <p:pic>
        <p:nvPicPr>
          <p:cNvPr id="7" name="Imagen 6" descr="Gráfico&#10;&#10;El contenido generado por IA puede ser incorrecto.">
            <a:extLst>
              <a:ext uri="{FF2B5EF4-FFF2-40B4-BE49-F238E27FC236}">
                <a16:creationId xmlns:a16="http://schemas.microsoft.com/office/drawing/2014/main" id="{970C693C-397E-C05E-341A-475268AA5ED2}"/>
              </a:ext>
            </a:extLst>
          </p:cNvPr>
          <p:cNvPicPr>
            <a:picLocks noChangeAspect="1"/>
          </p:cNvPicPr>
          <p:nvPr/>
        </p:nvPicPr>
        <p:blipFill>
          <a:blip r:embed="rId2"/>
          <a:stretch>
            <a:fillRect/>
          </a:stretch>
        </p:blipFill>
        <p:spPr>
          <a:xfrm>
            <a:off x="6061593" y="867430"/>
            <a:ext cx="4216900" cy="3383932"/>
          </a:xfrm>
          <a:prstGeom prst="rect">
            <a:avLst/>
          </a:prstGeom>
        </p:spPr>
      </p:pic>
      <p:pic>
        <p:nvPicPr>
          <p:cNvPr id="8" name="Imagen 7" descr="Gráfico&#10;&#10;El contenido generado por IA puede ser incorrecto.">
            <a:extLst>
              <a:ext uri="{FF2B5EF4-FFF2-40B4-BE49-F238E27FC236}">
                <a16:creationId xmlns:a16="http://schemas.microsoft.com/office/drawing/2014/main" id="{88550AFA-4D98-680F-D7F6-469FB55B884D}"/>
              </a:ext>
            </a:extLst>
          </p:cNvPr>
          <p:cNvPicPr>
            <a:picLocks noChangeAspect="1"/>
          </p:cNvPicPr>
          <p:nvPr/>
        </p:nvPicPr>
        <p:blipFill>
          <a:blip r:embed="rId3"/>
          <a:stretch>
            <a:fillRect/>
          </a:stretch>
        </p:blipFill>
        <p:spPr>
          <a:xfrm>
            <a:off x="990600" y="847214"/>
            <a:ext cx="4257344" cy="3416387"/>
          </a:xfrm>
          <a:prstGeom prst="rect">
            <a:avLst/>
          </a:prstGeom>
        </p:spPr>
      </p:pic>
      <p:sp>
        <p:nvSpPr>
          <p:cNvPr id="9" name="Rectangle 2">
            <a:extLst>
              <a:ext uri="{FF2B5EF4-FFF2-40B4-BE49-F238E27FC236}">
                <a16:creationId xmlns:a16="http://schemas.microsoft.com/office/drawing/2014/main" id="{6FF249A7-CAA7-725F-6587-42C3E249687C}"/>
              </a:ext>
            </a:extLst>
          </p:cNvPr>
          <p:cNvSpPr>
            <a:spLocks noChangeArrowheads="1"/>
          </p:cNvSpPr>
          <p:nvPr/>
        </p:nvSpPr>
        <p:spPr bwMode="auto">
          <a:xfrm>
            <a:off x="381000" y="4441126"/>
            <a:ext cx="111252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indent="0" algn="just" eaLnBrk="0" fontAlgn="base" hangingPunct="0">
              <a:lnSpc>
                <a:spcPct val="100000"/>
              </a:lnSpc>
              <a:spcBef>
                <a:spcPct val="0"/>
              </a:spcBef>
              <a:spcAft>
                <a:spcPct val="0"/>
              </a:spcAft>
              <a:buClrTx/>
              <a:buSzTx/>
              <a:buFontTx/>
              <a:buNone/>
              <a:tabLst/>
            </a:pPr>
            <a:r>
              <a:rPr lang="es-ES" altLang="es-ES" sz="1600" dirty="0">
                <a:latin typeface="Google Sans Text"/>
              </a:rPr>
              <a:t>Se ha establecido una configuración completamente balanceada, usando el mismo material (SOI) y la misma longitud geométrica (Lu=25um y </a:t>
            </a:r>
            <a:r>
              <a:rPr lang="es-ES" altLang="es-ES" sz="1600" dirty="0" err="1">
                <a:latin typeface="Google Sans Text"/>
              </a:rPr>
              <a:t>Ld</a:t>
            </a:r>
            <a:r>
              <a:rPr lang="es-ES" altLang="es-ES" sz="1600" dirty="0">
                <a:latin typeface="Google Sans Text"/>
              </a:rPr>
              <a:t>=25um) para ambos brazos. Al comparar la gráfica obtenida mediante SAX con la del modelo analítico previo, podemos ver que sus comportamientos de las FDT coinciden exactamente. Ambas tienen una transmisión máxima y constante de 1 en uno de los puertos cruzados y una anulación total (0) en el otro. Esta coincidencia de los resultados confirma que los modelos base de la guía de onda y del acoplador direccional en SAX, están definidos correctamente y sin errores, replicando fielmente la física teórica del dispositivo.</a:t>
            </a:r>
          </a:p>
        </p:txBody>
      </p:sp>
    </p:spTree>
    <p:extLst>
      <p:ext uri="{BB962C8B-B14F-4D97-AF65-F5344CB8AC3E}">
        <p14:creationId xmlns:p14="http://schemas.microsoft.com/office/powerpoint/2010/main" val="3804435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1350</TotalTime>
  <Words>1260</Words>
  <Application>Microsoft Office PowerPoint</Application>
  <PresentationFormat>Panorámica</PresentationFormat>
  <Paragraphs>104</Paragraphs>
  <Slides>10</Slides>
  <Notes>4</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10</vt:i4>
      </vt:variant>
    </vt:vector>
  </HeadingPairs>
  <TitlesOfParts>
    <vt:vector size="19" baseType="lpstr">
      <vt:lpstr>Aptos</vt:lpstr>
      <vt:lpstr>Arial</vt:lpstr>
      <vt:lpstr>Calibri</vt:lpstr>
      <vt:lpstr>Cambria Math</vt:lpstr>
      <vt:lpstr>Courier New</vt:lpstr>
      <vt:lpstr>Google Sans Text</vt:lpstr>
      <vt:lpstr>Lucida Sans</vt:lpstr>
      <vt:lpstr>Wingdings</vt:lpstr>
      <vt:lpstr>Office Theme</vt:lpstr>
      <vt:lpstr>Presentación de PowerPoint</vt:lpstr>
      <vt:lpstr>Instructions General</vt:lpstr>
      <vt:lpstr>ASSESSMENT #1 – Recap from theory – MZI configurations </vt:lpstr>
      <vt:lpstr>RESULTADOS ASSESSMENT 1</vt:lpstr>
      <vt:lpstr>RESULTADOS ASSESSMENT 1</vt:lpstr>
      <vt:lpstr>ASSESSMENT #2 – Recap from theory – Calculation of ΔL  </vt:lpstr>
      <vt:lpstr>ASSESSMENT #3 – SAX implementation  </vt:lpstr>
      <vt:lpstr>RESULTADO ASSESSMENT 3</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Julve Benages</cp:lastModifiedBy>
  <cp:revision>22</cp:revision>
  <dcterms:created xsi:type="dcterms:W3CDTF">2025-01-27T02:46:57Z</dcterms:created>
  <dcterms:modified xsi:type="dcterms:W3CDTF">2026-03-09T12:27:50Z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