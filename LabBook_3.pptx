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handoutMasterIdLst>
    <p:handoutMasterId r:id="rId16"/>
  </p:handoutMasterIdLst>
  <p:sldIdLst>
    <p:sldId id="256" r:id="rId2"/>
    <p:sldId id="289" r:id="rId3"/>
    <p:sldId id="290" r:id="rId4"/>
    <p:sldId id="297" r:id="rId5"/>
    <p:sldId id="298" r:id="rId6"/>
    <p:sldId id="295" r:id="rId7"/>
    <p:sldId id="296" r:id="rId8"/>
    <p:sldId id="299" r:id="rId9"/>
    <p:sldId id="293" r:id="rId10"/>
    <p:sldId id="300" r:id="rId11"/>
    <p:sldId id="301" r:id="rId12"/>
    <p:sldId id="302" r:id="rId13"/>
    <p:sldId id="288" r:id="rId14"/>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5033" autoAdjust="0"/>
  </p:normalViewPr>
  <p:slideViewPr>
    <p:cSldViewPr>
      <p:cViewPr varScale="1">
        <p:scale>
          <a:sx n="82" d="100"/>
          <a:sy n="82" d="100"/>
        </p:scale>
        <p:origin x="557"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22/03/2026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22/03/2026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B2A21-C6A2-C5B9-2DCA-3754617037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C95D30-E081-8AAE-817B-40A03306A7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6FC665-BCC5-C316-DC0F-D9DFBC4440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DB17553-B500-6323-E98B-E84BE727295F}"/>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2537674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DBC6-7EB2-AE62-0F4B-A0A0672ADD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8084C1-6F54-16C8-7D2F-21346675C8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869975-D523-6D26-7FF4-105B030357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0561EB6-B461-33D1-E122-96F4761D22F7}"/>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073773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4A8576ED-D269-3C6B-30E8-402BA30F4741}"/>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 INTERFEROMETERS I</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085B3A29-7AE1-3DAD-3BD8-A0E9707EE888}"/>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0.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82993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3. </a:t>
            </a:r>
            <a:r>
              <a:rPr lang="es-ES" sz="3200" b="1" dirty="0" err="1">
                <a:latin typeface="Lucida Sans"/>
                <a:cs typeface="Lucida Sans"/>
              </a:rPr>
              <a:t>Interferometers</a:t>
            </a:r>
            <a:r>
              <a:rPr lang="es-ES" sz="3200" b="1" dirty="0">
                <a:latin typeface="Lucida Sans"/>
                <a:cs typeface="Lucida Sans"/>
              </a:rPr>
              <a:t> I - MZI</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kern="0" dirty="0">
                <a:solidFill>
                  <a:sysClr val="windowText" lastClr="000000"/>
                </a:solidFill>
              </a:rPr>
              <a:t>SOFTWARE</a:t>
            </a:r>
          </a:p>
          <a:p>
            <a:pPr marL="342900" indent="-342900">
              <a:buFont typeface="Arial" panose="020B0604020202020204" pitchFamily="34" charset="0"/>
              <a:buChar char="•"/>
            </a:pPr>
            <a:r>
              <a:rPr lang="en-US" kern="0" dirty="0">
                <a:solidFill>
                  <a:sysClr val="windowText" lastClr="000000"/>
                </a:solidFill>
              </a:rPr>
              <a:t>Python notebook supplied by instructors</a:t>
            </a:r>
            <a:endParaRPr lang="en-US" kern="0" dirty="0">
              <a:solidFill>
                <a:sysClr val="windowText" lastClr="000000"/>
              </a:solidFill>
              <a:sym typeface="Wingdings" pitchFamily="2" charset="2"/>
            </a:endParaRPr>
          </a:p>
          <a:p>
            <a:pPr algn="just"/>
            <a:endParaRPr lang="en-US" sz="2000" b="1" kern="0" dirty="0">
              <a:solidFill>
                <a:sysClr val="windowText" lastClr="000000"/>
              </a:solidFill>
              <a:sym typeface="Wingdings" pitchFamily="2" charset="2"/>
            </a:endParaRPr>
          </a:p>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a:t>
            </a:r>
            <a:r>
              <a:rPr lang="en-US" kern="0" dirty="0" err="1">
                <a:solidFill>
                  <a:sysClr val="windowText" lastClr="000000"/>
                </a:solidFill>
                <a:sym typeface="Wingdings" pitchFamily="2" charset="2"/>
              </a:rPr>
              <a:t>Poliformat</a:t>
            </a:r>
            <a:r>
              <a:rPr lang="en-US" kern="0" dirty="0">
                <a:solidFill>
                  <a:sysClr val="windowText" lastClr="000000"/>
                </a:solidFill>
                <a:sym typeface="Wingdings" pitchFamily="2" charset="2"/>
              </a:rPr>
              <a:t>  download the 030_INTERFEROMETERS_v2025_Student_UPDATE2.ipynb</a:t>
            </a:r>
          </a:p>
          <a:p>
            <a:pPr marL="342900" indent="-342900" algn="just">
              <a:buFont typeface="Arial" panose="020B0604020202020204" pitchFamily="34" charset="0"/>
              <a:buChar char="•"/>
            </a:pPr>
            <a:r>
              <a:rPr lang="en-US" kern="0" dirty="0">
                <a:solidFill>
                  <a:sysClr val="windowText" lastClr="000000"/>
                </a:solidFill>
              </a:rPr>
              <a:t>Either run locally or at Cloud workspace</a:t>
            </a:r>
          </a:p>
          <a:p>
            <a:pPr algn="just"/>
            <a:endParaRPr lang="en-US" b="1" i="1" dirty="0"/>
          </a:p>
          <a:p>
            <a:pPr algn="just"/>
            <a:r>
              <a:rPr lang="en-US" b="1" i="1" dirty="0"/>
              <a:t>COMPONENT </a:t>
            </a:r>
            <a:r>
              <a:rPr lang="en-US" i="1" dirty="0"/>
              <a:t>to be studied: Mach-</a:t>
            </a:r>
            <a:r>
              <a:rPr lang="en-US" i="1" dirty="0" err="1"/>
              <a:t>Zendher</a:t>
            </a:r>
            <a:r>
              <a:rPr lang="en-US" i="1" dirty="0"/>
              <a:t> Interferometer (MZI)</a:t>
            </a:r>
            <a:endParaRPr lang="en-US" b="1" i="1" dirty="0"/>
          </a:p>
          <a:p>
            <a:pPr algn="just"/>
            <a:endParaRPr lang="en-US" sz="2000" b="1" i="1" dirty="0"/>
          </a:p>
          <a:p>
            <a:pPr algn="just"/>
            <a:endParaRPr lang="en-US" sz="2000" kern="0" dirty="0">
              <a:solidFill>
                <a:sysClr val="windowText" lastClr="000000"/>
              </a:solidFill>
            </a:endParaRPr>
          </a:p>
        </p:txBody>
      </p:sp>
      <p:sp>
        <p:nvSpPr>
          <p:cNvPr id="6" name="Rectángulo 5">
            <a:extLst>
              <a:ext uri="{FF2B5EF4-FFF2-40B4-BE49-F238E27FC236}">
                <a16:creationId xmlns:a16="http://schemas.microsoft.com/office/drawing/2014/main" id="{35FA208B-932F-D4ED-88E9-25FD18EC7B01}"/>
              </a:ext>
            </a:extLst>
          </p:cNvPr>
          <p:cNvSpPr/>
          <p:nvPr/>
        </p:nvSpPr>
        <p:spPr>
          <a:xfrm>
            <a:off x="4561100" y="4664608"/>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3" name="Rectángulo 12">
            <a:extLst>
              <a:ext uri="{FF2B5EF4-FFF2-40B4-BE49-F238E27FC236}">
                <a16:creationId xmlns:a16="http://schemas.microsoft.com/office/drawing/2014/main" id="{C4EDD22A-FE36-2345-71E2-5ADFA2129F2D}"/>
              </a:ext>
            </a:extLst>
          </p:cNvPr>
          <p:cNvSpPr/>
          <p:nvPr/>
        </p:nvSpPr>
        <p:spPr>
          <a:xfrm>
            <a:off x="4561099" y="5095683"/>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D94160E-A324-6E21-DC14-0EE2D556E973}"/>
                  </a:ext>
                </a:extLst>
              </p:cNvPr>
              <p:cNvSpPr txBox="1"/>
              <p:nvPr/>
            </p:nvSpPr>
            <p:spPr>
              <a:xfrm>
                <a:off x="5634197" y="4293214"/>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𝑢</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i="1" dirty="0">
                            <a:solidFill>
                              <a:schemeClr val="tx1"/>
                            </a:solidFill>
                            <a:latin typeface="Cambria Math" panose="02040503050406030204" pitchFamily="18" charset="0"/>
                          </a:rPr>
                          <m:t>𝑢</m:t>
                        </m:r>
                      </m:sub>
                    </m:sSub>
                  </m:oMath>
                </a14:m>
                <a:r>
                  <a:rPr lang="en-US" dirty="0">
                    <a:solidFill>
                      <a:schemeClr val="tx1"/>
                    </a:solidFill>
                  </a:rPr>
                  <a:t> </a:t>
                </a:r>
              </a:p>
            </p:txBody>
          </p:sp>
        </mc:Choice>
        <mc:Fallback xmlns="">
          <p:sp>
            <p:nvSpPr>
              <p:cNvPr id="22" name="CuadroTexto 21">
                <a:extLst>
                  <a:ext uri="{FF2B5EF4-FFF2-40B4-BE49-F238E27FC236}">
                    <a16:creationId xmlns:a16="http://schemas.microsoft.com/office/drawing/2014/main" id="{0D94160E-A324-6E21-DC14-0EE2D556E973}"/>
                  </a:ext>
                </a:extLst>
              </p:cNvPr>
              <p:cNvSpPr txBox="1">
                <a:spLocks noRot="1" noChangeAspect="1" noMove="1" noResize="1" noEditPoints="1" noAdjustHandles="1" noChangeArrowheads="1" noChangeShapeType="1" noTextEdit="1"/>
              </p:cNvSpPr>
              <p:nvPr/>
            </p:nvSpPr>
            <p:spPr>
              <a:xfrm>
                <a:off x="5634197" y="4293214"/>
                <a:ext cx="1245321" cy="369332"/>
              </a:xfrm>
              <a:prstGeom prst="rect">
                <a:avLst/>
              </a:prstGeom>
              <a:blipFill>
                <a:blip r:embed="rId4"/>
                <a:stretch>
                  <a:fillRect t="-8197" b="-24590"/>
                </a:stretch>
              </a:blipFill>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ECE69EBF-757C-A9D1-FFC8-627784359781}"/>
              </a:ext>
            </a:extLst>
          </p:cNvPr>
          <p:cNvSpPr/>
          <p:nvPr/>
        </p:nvSpPr>
        <p:spPr>
          <a:xfrm>
            <a:off x="2642165" y="4667484"/>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5" name="Rectángulo 14">
            <a:extLst>
              <a:ext uri="{FF2B5EF4-FFF2-40B4-BE49-F238E27FC236}">
                <a16:creationId xmlns:a16="http://schemas.microsoft.com/office/drawing/2014/main" id="{EE13A858-EE2A-8624-F13C-636DED623D27}"/>
              </a:ext>
            </a:extLst>
          </p:cNvPr>
          <p:cNvSpPr/>
          <p:nvPr/>
        </p:nvSpPr>
        <p:spPr>
          <a:xfrm>
            <a:off x="2642164" y="5098559"/>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9" name="Rectángulo 18">
            <a:extLst>
              <a:ext uri="{FF2B5EF4-FFF2-40B4-BE49-F238E27FC236}">
                <a16:creationId xmlns:a16="http://schemas.microsoft.com/office/drawing/2014/main" id="{C1076A0B-8DBA-DB5F-DC0F-1CF449A81D38}"/>
              </a:ext>
            </a:extLst>
          </p:cNvPr>
          <p:cNvSpPr/>
          <p:nvPr/>
        </p:nvSpPr>
        <p:spPr>
          <a:xfrm>
            <a:off x="2856086" y="4458476"/>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F5E72A5-F125-01A3-6239-44DD988AC98A}"/>
                  </a:ext>
                </a:extLst>
              </p:cNvPr>
              <p:cNvSpPr txBox="1"/>
              <p:nvPr/>
            </p:nvSpPr>
            <p:spPr>
              <a:xfrm>
                <a:off x="2919955" y="46940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𝑎</m:t>
                          </m:r>
                        </m:sub>
                      </m:sSub>
                    </m:oMath>
                  </m:oMathPara>
                </a14:m>
                <a:endParaRPr lang="en-US" dirty="0">
                  <a:solidFill>
                    <a:schemeClr val="tx1"/>
                  </a:solidFill>
                </a:endParaRPr>
              </a:p>
            </p:txBody>
          </p:sp>
        </mc:Choice>
        <mc:Fallback xmlns="">
          <p:sp>
            <p:nvSpPr>
              <p:cNvPr id="20" name="CuadroTexto 19">
                <a:extLst>
                  <a:ext uri="{FF2B5EF4-FFF2-40B4-BE49-F238E27FC236}">
                    <a16:creationId xmlns:a16="http://schemas.microsoft.com/office/drawing/2014/main" id="{EF5E72A5-F125-01A3-6239-44DD988AC98A}"/>
                  </a:ext>
                </a:extLst>
              </p:cNvPr>
              <p:cNvSpPr txBox="1">
                <a:spLocks noRot="1" noChangeAspect="1" noMove="1" noResize="1" noEditPoints="1" noAdjustHandles="1" noChangeArrowheads="1" noChangeShapeType="1" noTextEdit="1"/>
              </p:cNvSpPr>
              <p:nvPr/>
            </p:nvSpPr>
            <p:spPr>
              <a:xfrm>
                <a:off x="2919955" y="4694053"/>
                <a:ext cx="1291674" cy="369332"/>
              </a:xfrm>
              <a:prstGeom prst="rect">
                <a:avLst/>
              </a:prstGeom>
              <a:blipFill>
                <a:blip r:embed="rId5"/>
                <a:stretch>
                  <a:fillRect/>
                </a:stretch>
              </a:blipFill>
            </p:spPr>
            <p:txBody>
              <a:bodyPr/>
              <a:lstStyle/>
              <a:p>
                <a:r>
                  <a:rPr lang="es-ES">
                    <a:noFill/>
                  </a:rPr>
                  <a:t> </a:t>
                </a:r>
              </a:p>
            </p:txBody>
          </p:sp>
        </mc:Fallback>
      </mc:AlternateContent>
      <p:sp>
        <p:nvSpPr>
          <p:cNvPr id="24" name="CuadroTexto 23">
            <a:extLst>
              <a:ext uri="{FF2B5EF4-FFF2-40B4-BE49-F238E27FC236}">
                <a16:creationId xmlns:a16="http://schemas.microsoft.com/office/drawing/2014/main" id="{E82D8A99-C12E-9B5A-D44F-DC39CF2187E7}"/>
              </a:ext>
            </a:extLst>
          </p:cNvPr>
          <p:cNvSpPr txBox="1"/>
          <p:nvPr/>
        </p:nvSpPr>
        <p:spPr>
          <a:xfrm>
            <a:off x="1422486" y="4934965"/>
            <a:ext cx="1245321" cy="369332"/>
          </a:xfrm>
          <a:prstGeom prst="rect">
            <a:avLst/>
          </a:prstGeom>
          <a:noFill/>
        </p:spPr>
        <p:txBody>
          <a:bodyPr wrap="square" rtlCol="0">
            <a:spAutoFit/>
          </a:bodyPr>
          <a:lstStyle/>
          <a:p>
            <a:pPr algn="r"/>
            <a:r>
              <a:rPr lang="en-US" dirty="0">
                <a:solidFill>
                  <a:schemeClr val="bg1">
                    <a:lumMod val="65000"/>
                  </a:schemeClr>
                </a:solidFill>
              </a:rPr>
              <a:t>In1</a:t>
            </a:r>
          </a:p>
        </p:txBody>
      </p:sp>
      <p:sp>
        <p:nvSpPr>
          <p:cNvPr id="25" name="CuadroTexto 24">
            <a:extLst>
              <a:ext uri="{FF2B5EF4-FFF2-40B4-BE49-F238E27FC236}">
                <a16:creationId xmlns:a16="http://schemas.microsoft.com/office/drawing/2014/main" id="{AF3AEF45-E8B3-D1F2-8A9B-3A0585B1DA38}"/>
              </a:ext>
            </a:extLst>
          </p:cNvPr>
          <p:cNvSpPr txBox="1"/>
          <p:nvPr/>
        </p:nvSpPr>
        <p:spPr>
          <a:xfrm>
            <a:off x="1438475" y="4491415"/>
            <a:ext cx="1245321" cy="369332"/>
          </a:xfrm>
          <a:prstGeom prst="rect">
            <a:avLst/>
          </a:prstGeom>
          <a:noFill/>
        </p:spPr>
        <p:txBody>
          <a:bodyPr wrap="square" rtlCol="0">
            <a:spAutoFit/>
          </a:bodyPr>
          <a:lstStyle/>
          <a:p>
            <a:pPr algn="r"/>
            <a:r>
              <a:rPr lang="en-US" dirty="0">
                <a:solidFill>
                  <a:schemeClr val="bg1">
                    <a:lumMod val="65000"/>
                  </a:schemeClr>
                </a:solidFill>
              </a:rPr>
              <a:t>In2</a:t>
            </a:r>
          </a:p>
        </p:txBody>
      </p:sp>
      <p:sp>
        <p:nvSpPr>
          <p:cNvPr id="17" name="Rectángulo 16">
            <a:extLst>
              <a:ext uri="{FF2B5EF4-FFF2-40B4-BE49-F238E27FC236}">
                <a16:creationId xmlns:a16="http://schemas.microsoft.com/office/drawing/2014/main" id="{6C1DD7CE-5AFF-6AAD-ABB0-7F12BBFDC181}"/>
              </a:ext>
            </a:extLst>
          </p:cNvPr>
          <p:cNvSpPr/>
          <p:nvPr/>
        </p:nvSpPr>
        <p:spPr>
          <a:xfrm>
            <a:off x="7822666" y="4652133"/>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8" name="Rectángulo 17">
            <a:extLst>
              <a:ext uri="{FF2B5EF4-FFF2-40B4-BE49-F238E27FC236}">
                <a16:creationId xmlns:a16="http://schemas.microsoft.com/office/drawing/2014/main" id="{BF18895E-AB87-954B-BE18-94A83ABEF83B}"/>
              </a:ext>
            </a:extLst>
          </p:cNvPr>
          <p:cNvSpPr/>
          <p:nvPr/>
        </p:nvSpPr>
        <p:spPr>
          <a:xfrm>
            <a:off x="7822665" y="5083208"/>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21" name="Rectángulo 20">
            <a:extLst>
              <a:ext uri="{FF2B5EF4-FFF2-40B4-BE49-F238E27FC236}">
                <a16:creationId xmlns:a16="http://schemas.microsoft.com/office/drawing/2014/main" id="{EC9EBD3D-98EF-BFF4-3EF2-FB53BDFDC1B9}"/>
              </a:ext>
            </a:extLst>
          </p:cNvPr>
          <p:cNvSpPr/>
          <p:nvPr/>
        </p:nvSpPr>
        <p:spPr>
          <a:xfrm>
            <a:off x="8037575" y="4467074"/>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34" name="CuadroTexto 33">
            <a:extLst>
              <a:ext uri="{FF2B5EF4-FFF2-40B4-BE49-F238E27FC236}">
                <a16:creationId xmlns:a16="http://schemas.microsoft.com/office/drawing/2014/main" id="{1C2F6896-54D4-8706-AA99-764079F2D35D}"/>
              </a:ext>
            </a:extLst>
          </p:cNvPr>
          <p:cNvSpPr txBox="1"/>
          <p:nvPr/>
        </p:nvSpPr>
        <p:spPr>
          <a:xfrm>
            <a:off x="9659709" y="4916768"/>
            <a:ext cx="1245321" cy="369332"/>
          </a:xfrm>
          <a:prstGeom prst="rect">
            <a:avLst/>
          </a:prstGeom>
          <a:noFill/>
        </p:spPr>
        <p:txBody>
          <a:bodyPr wrap="square" rtlCol="0">
            <a:spAutoFit/>
          </a:bodyPr>
          <a:lstStyle/>
          <a:p>
            <a:r>
              <a:rPr lang="en-US" dirty="0">
                <a:solidFill>
                  <a:schemeClr val="bg1">
                    <a:lumMod val="65000"/>
                  </a:schemeClr>
                </a:solidFill>
              </a:rPr>
              <a:t>Out1</a:t>
            </a:r>
          </a:p>
        </p:txBody>
      </p:sp>
      <p:sp>
        <p:nvSpPr>
          <p:cNvPr id="36" name="CuadroTexto 35">
            <a:extLst>
              <a:ext uri="{FF2B5EF4-FFF2-40B4-BE49-F238E27FC236}">
                <a16:creationId xmlns:a16="http://schemas.microsoft.com/office/drawing/2014/main" id="{5006711D-654E-EB6C-E90D-0190AA8EE20A}"/>
              </a:ext>
            </a:extLst>
          </p:cNvPr>
          <p:cNvSpPr txBox="1"/>
          <p:nvPr/>
        </p:nvSpPr>
        <p:spPr>
          <a:xfrm>
            <a:off x="9680893" y="4458476"/>
            <a:ext cx="1245321" cy="369332"/>
          </a:xfrm>
          <a:prstGeom prst="rect">
            <a:avLst/>
          </a:prstGeom>
          <a:noFill/>
        </p:spPr>
        <p:txBody>
          <a:bodyPr wrap="square" rtlCol="0">
            <a:spAutoFit/>
          </a:bodyPr>
          <a:lstStyle/>
          <a:p>
            <a:r>
              <a:rPr lang="en-US" dirty="0">
                <a:solidFill>
                  <a:schemeClr val="bg1">
                    <a:lumMod val="65000"/>
                  </a:schemeClr>
                </a:solidFill>
              </a:rPr>
              <a:t>Out2</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79C4EB3-5014-92C7-FAAB-64D3285CF6AC}"/>
                  </a:ext>
                </a:extLst>
              </p:cNvPr>
              <p:cNvSpPr txBox="1"/>
              <p:nvPr/>
            </p:nvSpPr>
            <p:spPr>
              <a:xfrm>
                <a:off x="8119322" y="47069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𝑏</m:t>
                          </m:r>
                        </m:sub>
                      </m:sSub>
                    </m:oMath>
                  </m:oMathPara>
                </a14:m>
                <a:endParaRPr lang="en-US" dirty="0">
                  <a:solidFill>
                    <a:schemeClr val="tx1"/>
                  </a:solidFill>
                </a:endParaRPr>
              </a:p>
            </p:txBody>
          </p:sp>
        </mc:Choice>
        <mc:Fallback xmlns="">
          <p:sp>
            <p:nvSpPr>
              <p:cNvPr id="39" name="CuadroTexto 38">
                <a:extLst>
                  <a:ext uri="{FF2B5EF4-FFF2-40B4-BE49-F238E27FC236}">
                    <a16:creationId xmlns:a16="http://schemas.microsoft.com/office/drawing/2014/main" id="{979C4EB3-5014-92C7-FAAB-64D3285CF6AC}"/>
                  </a:ext>
                </a:extLst>
              </p:cNvPr>
              <p:cNvSpPr txBox="1">
                <a:spLocks noRot="1" noChangeAspect="1" noMove="1" noResize="1" noEditPoints="1" noAdjustHandles="1" noChangeArrowheads="1" noChangeShapeType="1" noTextEdit="1"/>
              </p:cNvSpPr>
              <p:nvPr/>
            </p:nvSpPr>
            <p:spPr>
              <a:xfrm>
                <a:off x="8119322" y="4706953"/>
                <a:ext cx="1291674" cy="369332"/>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72F4EC49-F7E4-B921-90B7-75679E5144D1}"/>
                  </a:ext>
                </a:extLst>
              </p:cNvPr>
              <p:cNvSpPr txBox="1"/>
              <p:nvPr/>
            </p:nvSpPr>
            <p:spPr>
              <a:xfrm>
                <a:off x="5653085" y="5192639"/>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p>
            </p:txBody>
          </p:sp>
        </mc:Choice>
        <mc:Fallback xmlns="">
          <p:sp>
            <p:nvSpPr>
              <p:cNvPr id="40" name="CuadroTexto 39">
                <a:extLst>
                  <a:ext uri="{FF2B5EF4-FFF2-40B4-BE49-F238E27FC236}">
                    <a16:creationId xmlns:a16="http://schemas.microsoft.com/office/drawing/2014/main" id="{72F4EC49-F7E4-B921-90B7-75679E5144D1}"/>
                  </a:ext>
                </a:extLst>
              </p:cNvPr>
              <p:cNvSpPr txBox="1">
                <a:spLocks noRot="1" noChangeAspect="1" noMove="1" noResize="1" noEditPoints="1" noAdjustHandles="1" noChangeArrowheads="1" noChangeShapeType="1" noTextEdit="1"/>
              </p:cNvSpPr>
              <p:nvPr/>
            </p:nvSpPr>
            <p:spPr>
              <a:xfrm>
                <a:off x="5653085" y="5192639"/>
                <a:ext cx="1245321" cy="369332"/>
              </a:xfrm>
              <a:prstGeom prst="rect">
                <a:avLst/>
              </a:prstGeom>
              <a:blipFill>
                <a:blip r:embed="rId7"/>
                <a:stretch>
                  <a:fillRect t="-10000" b="-26667"/>
                </a:stretch>
              </a:blipFill>
            </p:spPr>
            <p:txBody>
              <a:bodyPr/>
              <a:lstStyle/>
              <a:p>
                <a:r>
                  <a:rPr lang="es-ES">
                    <a:noFill/>
                  </a:rPr>
                  <a:t> </a:t>
                </a:r>
              </a:p>
            </p:txBody>
          </p:sp>
        </mc:Fallback>
      </mc:AlternateContent>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Provide one example of implementation for each one of the configurations studied during MZI lecture:</a:t>
                </a:r>
              </a:p>
              <a:p>
                <a:pPr lvl="1"/>
                <a:r>
                  <a:rPr lang="en-US" sz="2000" dirty="0"/>
                  <a:t>1. Balanced configuration</a:t>
                </a:r>
              </a:p>
              <a:p>
                <a:pPr lvl="1"/>
                <a:r>
                  <a:rPr lang="en-US" sz="2000" dirty="0"/>
                  <a:t>2. Unbalanced configuration:</a:t>
                </a:r>
              </a:p>
              <a:p>
                <a:pPr lvl="1"/>
                <a:r>
                  <a:rPr lang="en-US" sz="2000" dirty="0"/>
                  <a:t>  2.1.   Phase difference </a:t>
                </a:r>
              </a:p>
              <a:p>
                <a:pPr lvl="1"/>
                <a:r>
                  <a:rPr lang="en-US" sz="2000" dirty="0"/>
                  <a:t>  2.2.   Delay imbalance</a:t>
                </a:r>
              </a:p>
              <a:p>
                <a:r>
                  <a:rPr lang="en-US" sz="2000" dirty="0"/>
                  <a:t>Compute also some examples with </a:t>
                </a:r>
                <a14:m>
                  <m:oMath xmlns:m="http://schemas.openxmlformats.org/officeDocument/2006/math">
                    <m:r>
                      <m:rPr>
                        <m:sty m:val="p"/>
                      </m:rPr>
                      <a:rPr lang="es-ES" sz="2000" b="0" i="1" smtClean="0">
                        <a:latin typeface="Cambria Math" panose="02040503050406030204" pitchFamily="18" charset="0"/>
                      </a:rPr>
                      <m:t>α</m:t>
                    </m:r>
                    <m:r>
                      <a:rPr lang="es-ES" sz="2000" i="1">
                        <a:latin typeface="Cambria Math" panose="02040503050406030204" pitchFamily="18" charset="0"/>
                        <a:ea typeface="Cambria Math" panose="02040503050406030204" pitchFamily="18" charset="0"/>
                      </a:rPr>
                      <m:t>≠0</m:t>
                    </m:r>
                  </m:oMath>
                </a14:m>
                <a:r>
                  <a:rPr lang="en-US" sz="2000" kern="0" dirty="0">
                    <a:solidFill>
                      <a:sysClr val="windowText" lastClr="000000"/>
                    </a:solidFill>
                  </a:rPr>
                  <a:t> and </a:t>
                </a:r>
                <a14:m>
                  <m:oMath xmlns:m="http://schemas.openxmlformats.org/officeDocument/2006/math">
                    <m:r>
                      <m:rPr>
                        <m:sty m:val="p"/>
                      </m:rPr>
                      <a:rPr lang="es-ES" sz="2000" i="1">
                        <a:latin typeface="Cambria Math" panose="02040503050406030204" pitchFamily="18" charset="0"/>
                      </a:rPr>
                      <m:t>γ</m:t>
                    </m:r>
                    <m:r>
                      <a:rPr lang="es-ES" sz="2000" i="1">
                        <a:latin typeface="Cambria Math" panose="02040503050406030204" pitchFamily="18" charset="0"/>
                        <a:ea typeface="Cambria Math" panose="02040503050406030204" pitchFamily="18" charset="0"/>
                      </a:rPr>
                      <m:t>≠0</m:t>
                    </m:r>
                  </m:oMath>
                </a14:m>
                <a:endParaRPr lang="es-ES" sz="2000" dirty="0"/>
              </a:p>
              <a:p>
                <a:r>
                  <a:rPr lang="en-US" sz="2000" dirty="0"/>
                  <a:t> </a:t>
                </a:r>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alpha, gamma, transfer function plots, etc.) and comment on the obtained results (in terms of FSR, amplitude, losses, etc.).</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14E1523F-57E7-BC79-8739-6F62FB1C8B3D}"/>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C7B060-DE26-7B6D-CA6D-53FA0A01F60C}"/>
              </a:ext>
            </a:extLst>
          </p:cNvPr>
          <p:cNvSpPr>
            <a:spLocks noGrp="1"/>
          </p:cNvSpPr>
          <p:nvPr>
            <p:ph type="title"/>
          </p:nvPr>
        </p:nvSpPr>
        <p:spPr/>
        <p:txBody>
          <a:bodyPr/>
          <a:lstStyle/>
          <a:p>
            <a:r>
              <a:rPr lang="es-ES" dirty="0"/>
              <a:t>RESULTADOS ASSESSMENT 1</a:t>
            </a:r>
          </a:p>
        </p:txBody>
      </p:sp>
      <p:sp>
        <p:nvSpPr>
          <p:cNvPr id="4" name="Marcador de pie de página 3">
            <a:extLst>
              <a:ext uri="{FF2B5EF4-FFF2-40B4-BE49-F238E27FC236}">
                <a16:creationId xmlns:a16="http://schemas.microsoft.com/office/drawing/2014/main" id="{00A33CC4-216D-1022-77CB-9102CB3E8B2A}"/>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59AA8F1D-CA29-56C3-54BB-3E19C1444346}"/>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6" name="Título 1">
            <a:extLst>
              <a:ext uri="{FF2B5EF4-FFF2-40B4-BE49-F238E27FC236}">
                <a16:creationId xmlns:a16="http://schemas.microsoft.com/office/drawing/2014/main" id="{828EE0C9-51FD-4402-AA9B-E837CCCE382D}"/>
              </a:ext>
            </a:extLst>
          </p:cNvPr>
          <p:cNvSpPr txBox="1">
            <a:spLocks/>
          </p:cNvSpPr>
          <p:nvPr/>
        </p:nvSpPr>
        <p:spPr>
          <a:xfrm>
            <a:off x="565668" y="580768"/>
            <a:ext cx="1099185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dirty="0"/>
              <a:t>1. </a:t>
            </a:r>
            <a:r>
              <a:rPr lang="es-ES" kern="0" dirty="0" err="1"/>
              <a:t>Balanced</a:t>
            </a:r>
            <a:r>
              <a:rPr lang="es-ES" kern="0" dirty="0"/>
              <a:t> </a:t>
            </a:r>
            <a:r>
              <a:rPr lang="es-ES" kern="0" dirty="0" err="1"/>
              <a:t>Configuration</a:t>
            </a:r>
            <a:endParaRPr lang="es-ES" kern="0" dirty="0"/>
          </a:p>
        </p:txBody>
      </p:sp>
      <p:pic>
        <p:nvPicPr>
          <p:cNvPr id="8" name="Imagen 7" descr="Gráfico&#10;&#10;El contenido generado por IA puede ser incorrecto.">
            <a:extLst>
              <a:ext uri="{FF2B5EF4-FFF2-40B4-BE49-F238E27FC236}">
                <a16:creationId xmlns:a16="http://schemas.microsoft.com/office/drawing/2014/main" id="{10BC3A82-6200-F3D1-1415-E0A6EA77B38A}"/>
              </a:ext>
            </a:extLst>
          </p:cNvPr>
          <p:cNvPicPr>
            <a:picLocks noChangeAspect="1"/>
          </p:cNvPicPr>
          <p:nvPr/>
        </p:nvPicPr>
        <p:blipFill>
          <a:blip r:embed="rId2"/>
          <a:stretch>
            <a:fillRect/>
          </a:stretch>
        </p:blipFill>
        <p:spPr>
          <a:xfrm>
            <a:off x="392231" y="950934"/>
            <a:ext cx="3334472" cy="2675811"/>
          </a:xfrm>
          <a:prstGeom prst="rect">
            <a:avLst/>
          </a:prstGeom>
        </p:spPr>
      </p:pic>
      <p:sp>
        <p:nvSpPr>
          <p:cNvPr id="9" name="Título 1">
            <a:extLst>
              <a:ext uri="{FF2B5EF4-FFF2-40B4-BE49-F238E27FC236}">
                <a16:creationId xmlns:a16="http://schemas.microsoft.com/office/drawing/2014/main" id="{E2D6BC0E-89AE-916B-D765-C9CF8CB2B57D}"/>
              </a:ext>
            </a:extLst>
          </p:cNvPr>
          <p:cNvSpPr txBox="1">
            <a:spLocks/>
          </p:cNvSpPr>
          <p:nvPr/>
        </p:nvSpPr>
        <p:spPr>
          <a:xfrm>
            <a:off x="565668" y="3727453"/>
            <a:ext cx="1099185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dirty="0"/>
              <a:t>2. </a:t>
            </a:r>
            <a:r>
              <a:rPr lang="es-ES" kern="0" dirty="0" err="1"/>
              <a:t>Unbalanced</a:t>
            </a:r>
            <a:r>
              <a:rPr lang="es-ES" kern="0" dirty="0"/>
              <a:t> </a:t>
            </a:r>
            <a:r>
              <a:rPr lang="es-ES" kern="0" dirty="0" err="1"/>
              <a:t>Configuration</a:t>
            </a:r>
            <a:r>
              <a:rPr lang="es-ES" kern="0" dirty="0"/>
              <a:t> – </a:t>
            </a:r>
            <a:r>
              <a:rPr lang="es-ES" kern="0" dirty="0" err="1"/>
              <a:t>Phase</a:t>
            </a:r>
            <a:r>
              <a:rPr lang="es-ES" kern="0" dirty="0"/>
              <a:t> </a:t>
            </a:r>
            <a:r>
              <a:rPr lang="es-ES" kern="0" dirty="0" err="1"/>
              <a:t>Difference</a:t>
            </a:r>
            <a:endParaRPr lang="es-ES" kern="0" dirty="0"/>
          </a:p>
        </p:txBody>
      </p:sp>
      <p:pic>
        <p:nvPicPr>
          <p:cNvPr id="10" name="Imagen 9">
            <a:extLst>
              <a:ext uri="{FF2B5EF4-FFF2-40B4-BE49-F238E27FC236}">
                <a16:creationId xmlns:a16="http://schemas.microsoft.com/office/drawing/2014/main" id="{A7AAE93E-289B-5836-D779-D7506E544C8E}"/>
              </a:ext>
            </a:extLst>
          </p:cNvPr>
          <p:cNvPicPr>
            <a:picLocks noChangeAspect="1"/>
          </p:cNvPicPr>
          <p:nvPr/>
        </p:nvPicPr>
        <p:blipFill>
          <a:blip r:embed="rId3"/>
          <a:stretch>
            <a:fillRect/>
          </a:stretch>
        </p:blipFill>
        <p:spPr>
          <a:xfrm>
            <a:off x="372015" y="4045185"/>
            <a:ext cx="3560838" cy="2812815"/>
          </a:xfrm>
          <a:prstGeom prst="rect">
            <a:avLst/>
          </a:prstGeom>
        </p:spPr>
      </p:pic>
      <p:sp>
        <p:nvSpPr>
          <p:cNvPr id="13" name="CuadroTexto 12">
            <a:extLst>
              <a:ext uri="{FF2B5EF4-FFF2-40B4-BE49-F238E27FC236}">
                <a16:creationId xmlns:a16="http://schemas.microsoft.com/office/drawing/2014/main" id="{BE95D7DA-0E11-AA8B-923C-B3D69C295455}"/>
              </a:ext>
            </a:extLst>
          </p:cNvPr>
          <p:cNvSpPr txBox="1"/>
          <p:nvPr/>
        </p:nvSpPr>
        <p:spPr>
          <a:xfrm>
            <a:off x="3965510" y="1169152"/>
            <a:ext cx="7899629" cy="2062103"/>
          </a:xfrm>
          <a:prstGeom prst="rect">
            <a:avLst/>
          </a:prstGeom>
          <a:noFill/>
        </p:spPr>
        <p:txBody>
          <a:bodyPr wrap="square">
            <a:spAutoFit/>
          </a:bodyPr>
          <a:lstStyle/>
          <a:p>
            <a:pPr algn="just"/>
            <a:r>
              <a:rPr lang="es-ES" sz="1600" dirty="0"/>
              <a:t>Se observa una respuesta espectral completamente plana. Al usar mismas longitudes (Lu = 25 </a:t>
            </a:r>
            <a:r>
              <a:rPr lang="es-ES" sz="1600" dirty="0" err="1"/>
              <a:t>um</a:t>
            </a:r>
            <a:r>
              <a:rPr lang="es-ES" sz="1600" dirty="0"/>
              <a:t> y </a:t>
            </a:r>
            <a:r>
              <a:rPr lang="es-ES" sz="1600" dirty="0" err="1"/>
              <a:t>Ld</a:t>
            </a:r>
            <a:r>
              <a:rPr lang="es-ES" sz="1600" dirty="0"/>
              <a:t> = 25 </a:t>
            </a:r>
            <a:r>
              <a:rPr lang="es-ES" sz="1600" dirty="0" err="1"/>
              <a:t>um</a:t>
            </a:r>
            <a:r>
              <a:rPr lang="es-ES" sz="1600" dirty="0"/>
              <a:t>) y el mismo índice efectivo del SOI para ambos brazos del interferómetro, la diferencia de fase generada es nula para todas las longitudes de onda simuladas. Al ser un escenario ideal sin pérdidas de propagación y sin pérdidas por exceso de acopladores (</a:t>
            </a:r>
            <a:r>
              <a:rPr lang="es-ES" sz="1600" dirty="0" err="1"/>
              <a:t>alpha</a:t>
            </a:r>
            <a:r>
              <a:rPr lang="es-ES" sz="1600" dirty="0"/>
              <a:t>=0 y gamma=0), y asumiendo divisores ideales al 50%, la amplitud máxima de transmisión alcanza un valor de 1. En consecuencia, toda la potencia óptica interfiere de manera constante a lo largo de todo el espectro, resultando en un FSR infinito al no existir ninguna oscilación o dependencia con la longitud de onda.</a:t>
            </a:r>
          </a:p>
        </p:txBody>
      </p:sp>
      <p:sp>
        <p:nvSpPr>
          <p:cNvPr id="15" name="CuadroTexto 14">
            <a:extLst>
              <a:ext uri="{FF2B5EF4-FFF2-40B4-BE49-F238E27FC236}">
                <a16:creationId xmlns:a16="http://schemas.microsoft.com/office/drawing/2014/main" id="{9C2DA9CC-A6BF-8644-0980-52DE978AE002}"/>
              </a:ext>
            </a:extLst>
          </p:cNvPr>
          <p:cNvSpPr txBox="1"/>
          <p:nvPr/>
        </p:nvSpPr>
        <p:spPr>
          <a:xfrm>
            <a:off x="4002054" y="4288389"/>
            <a:ext cx="7826539" cy="2062103"/>
          </a:xfrm>
          <a:prstGeom prst="rect">
            <a:avLst/>
          </a:prstGeom>
          <a:noFill/>
        </p:spPr>
        <p:txBody>
          <a:bodyPr wrap="square">
            <a:spAutoFit/>
          </a:bodyPr>
          <a:lstStyle/>
          <a:p>
            <a:pPr algn="just"/>
            <a:r>
              <a:rPr lang="es-ES" sz="1600" dirty="0"/>
              <a:t>Para un desbalance por diferencia de fase , se mantiene (Lu = 25 </a:t>
            </a:r>
            <a:r>
              <a:rPr lang="es-ES" sz="1600" dirty="0" err="1"/>
              <a:t>um</a:t>
            </a:r>
            <a:r>
              <a:rPr lang="es-ES" sz="1600" dirty="0"/>
              <a:t> y </a:t>
            </a:r>
            <a:r>
              <a:rPr lang="es-ES" sz="1600" dirty="0" err="1"/>
              <a:t>Ld</a:t>
            </a:r>
            <a:r>
              <a:rPr lang="es-ES" sz="1600" dirty="0"/>
              <a:t> = 25 </a:t>
            </a:r>
            <a:r>
              <a:rPr lang="es-ES" sz="1600" dirty="0" err="1"/>
              <a:t>um</a:t>
            </a:r>
            <a:r>
              <a:rPr lang="es-ES" sz="1600" dirty="0"/>
              <a:t>), pero se cambia el índice efectivo con diferentes entornos para las guías de nitruro de silicio (</a:t>
            </a:r>
            <a:r>
              <a:rPr lang="es-ES" sz="1600" dirty="0" err="1"/>
              <a:t>SiN</a:t>
            </a:r>
            <a:r>
              <a:rPr lang="es-ES" sz="1600" dirty="0"/>
              <a:t>), usando recubrimiento para un brazo y dejándolo expuesto al aire para el otro. Esta asimetría de materiales provoca que la luz viaje a velocidades ligeramente distintas en cada camino, acumulando un desfase gradual. Debido a que el contraste del índice efectivo entre el recubrimiento y el aire produce un cambio pequeño, el espectro resultante muestra un FSR extremadamente grande, lo que solo permite visualizar una fracción muy leve de la curva de interferencia dentro de la ventana de simulación de 1.50 a 1.60 </a:t>
            </a:r>
            <a:r>
              <a:rPr lang="es-ES" sz="1600" dirty="0" err="1"/>
              <a:t>um</a:t>
            </a:r>
            <a:r>
              <a:rPr lang="es-ES" sz="1600" dirty="0"/>
              <a:t>.</a:t>
            </a:r>
          </a:p>
        </p:txBody>
      </p:sp>
    </p:spTree>
    <p:extLst>
      <p:ext uri="{BB962C8B-B14F-4D97-AF65-F5344CB8AC3E}">
        <p14:creationId xmlns:p14="http://schemas.microsoft.com/office/powerpoint/2010/main" val="1453711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B788F-0428-B8FC-27CF-612E7A93847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82E0126-221F-4999-D59E-3A0112A6B5E9}"/>
              </a:ext>
            </a:extLst>
          </p:cNvPr>
          <p:cNvSpPr>
            <a:spLocks noGrp="1"/>
          </p:cNvSpPr>
          <p:nvPr>
            <p:ph type="title"/>
          </p:nvPr>
        </p:nvSpPr>
        <p:spPr/>
        <p:txBody>
          <a:bodyPr/>
          <a:lstStyle/>
          <a:p>
            <a:r>
              <a:rPr lang="es-ES" dirty="0"/>
              <a:t>RESULTADOS ASSESSMENT 1</a:t>
            </a:r>
          </a:p>
        </p:txBody>
      </p:sp>
      <p:sp>
        <p:nvSpPr>
          <p:cNvPr id="4" name="Marcador de pie de página 3">
            <a:extLst>
              <a:ext uri="{FF2B5EF4-FFF2-40B4-BE49-F238E27FC236}">
                <a16:creationId xmlns:a16="http://schemas.microsoft.com/office/drawing/2014/main" id="{05319472-C994-5F68-A053-96EAD16877F7}"/>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A15C0111-4B25-7624-1BD6-5055B1B0E10A}"/>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6" name="Título 1">
            <a:extLst>
              <a:ext uri="{FF2B5EF4-FFF2-40B4-BE49-F238E27FC236}">
                <a16:creationId xmlns:a16="http://schemas.microsoft.com/office/drawing/2014/main" id="{C971B12A-7795-2D76-9EC8-A21BD3E51A66}"/>
              </a:ext>
            </a:extLst>
          </p:cNvPr>
          <p:cNvSpPr txBox="1">
            <a:spLocks/>
          </p:cNvSpPr>
          <p:nvPr/>
        </p:nvSpPr>
        <p:spPr>
          <a:xfrm>
            <a:off x="609600" y="687189"/>
            <a:ext cx="1099185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dirty="0"/>
              <a:t>3. </a:t>
            </a:r>
            <a:r>
              <a:rPr lang="es-ES" kern="0" dirty="0" err="1"/>
              <a:t>Unbalanced</a:t>
            </a:r>
            <a:r>
              <a:rPr lang="es-ES" kern="0" dirty="0"/>
              <a:t> </a:t>
            </a:r>
            <a:r>
              <a:rPr lang="es-ES" kern="0" dirty="0" err="1"/>
              <a:t>Configuration</a:t>
            </a:r>
            <a:r>
              <a:rPr lang="es-ES" kern="0" dirty="0"/>
              <a:t> – </a:t>
            </a:r>
            <a:r>
              <a:rPr lang="es-ES" kern="0" dirty="0" err="1"/>
              <a:t>Delay</a:t>
            </a:r>
            <a:r>
              <a:rPr lang="es-ES" kern="0" dirty="0"/>
              <a:t> </a:t>
            </a:r>
            <a:r>
              <a:rPr lang="es-ES" kern="0" dirty="0" err="1"/>
              <a:t>Umbalance</a:t>
            </a:r>
            <a:endParaRPr lang="es-ES" kern="0" dirty="0"/>
          </a:p>
        </p:txBody>
      </p:sp>
      <p:pic>
        <p:nvPicPr>
          <p:cNvPr id="8" name="Imagen 7">
            <a:extLst>
              <a:ext uri="{FF2B5EF4-FFF2-40B4-BE49-F238E27FC236}">
                <a16:creationId xmlns:a16="http://schemas.microsoft.com/office/drawing/2014/main" id="{C4CE3470-D6EA-D1DE-A975-A1E79690E074}"/>
              </a:ext>
            </a:extLst>
          </p:cNvPr>
          <p:cNvPicPr>
            <a:picLocks noChangeAspect="1"/>
          </p:cNvPicPr>
          <p:nvPr/>
        </p:nvPicPr>
        <p:blipFill>
          <a:blip r:embed="rId2"/>
          <a:stretch>
            <a:fillRect/>
          </a:stretch>
        </p:blipFill>
        <p:spPr>
          <a:xfrm>
            <a:off x="457200" y="1186287"/>
            <a:ext cx="3703478" cy="2971927"/>
          </a:xfrm>
          <a:prstGeom prst="rect">
            <a:avLst/>
          </a:prstGeom>
        </p:spPr>
      </p:pic>
      <p:sp>
        <p:nvSpPr>
          <p:cNvPr id="13" name="CuadroTexto 12">
            <a:extLst>
              <a:ext uri="{FF2B5EF4-FFF2-40B4-BE49-F238E27FC236}">
                <a16:creationId xmlns:a16="http://schemas.microsoft.com/office/drawing/2014/main" id="{050610C9-D74B-FFEA-4330-607EDD607E2F}"/>
              </a:ext>
            </a:extLst>
          </p:cNvPr>
          <p:cNvSpPr txBox="1"/>
          <p:nvPr/>
        </p:nvSpPr>
        <p:spPr>
          <a:xfrm>
            <a:off x="4206163" y="1524000"/>
            <a:ext cx="7650322" cy="2062103"/>
          </a:xfrm>
          <a:prstGeom prst="rect">
            <a:avLst/>
          </a:prstGeom>
          <a:noFill/>
        </p:spPr>
        <p:txBody>
          <a:bodyPr wrap="square">
            <a:spAutoFit/>
          </a:bodyPr>
          <a:lstStyle/>
          <a:p>
            <a:pPr algn="just"/>
            <a:r>
              <a:rPr lang="es-ES" sz="1600" dirty="0"/>
              <a:t>En la configuración desbalanceada por retardo, volvemos con el material SOI idéntico para ambos caminos, pero hacemos las guías </a:t>
            </a:r>
            <a:r>
              <a:rPr lang="es-ES" sz="1600" dirty="0" err="1"/>
              <a:t>asimetricas</a:t>
            </a:r>
            <a:r>
              <a:rPr lang="es-ES" sz="1600" dirty="0"/>
              <a:t> (Lu = 25 </a:t>
            </a:r>
            <a:r>
              <a:rPr lang="es-ES" sz="1600" dirty="0" err="1"/>
              <a:t>um</a:t>
            </a:r>
            <a:r>
              <a:rPr lang="es-ES" sz="1600" dirty="0"/>
              <a:t> frente a </a:t>
            </a:r>
            <a:r>
              <a:rPr lang="es-ES" sz="1600" dirty="0" err="1"/>
              <a:t>Ld</a:t>
            </a:r>
            <a:r>
              <a:rPr lang="es-ES" sz="1600" dirty="0"/>
              <a:t> = 5 </a:t>
            </a:r>
            <a:r>
              <a:rPr lang="es-ES" sz="1600" dirty="0" err="1"/>
              <a:t>um</a:t>
            </a:r>
            <a:r>
              <a:rPr lang="es-ES" sz="1600" dirty="0"/>
              <a:t>). Esta diferencia de camino óptico fuerza a las ondas a recombinarse en el segundo acoplador con un desfase fuertemente dependiente de la longitud de onda. El resultado visual es de un filtro </a:t>
            </a:r>
            <a:r>
              <a:rPr lang="es-ES" sz="1600" dirty="0" err="1"/>
              <a:t>interferométrico</a:t>
            </a:r>
            <a:r>
              <a:rPr lang="es-ES" sz="1600" dirty="0"/>
              <a:t>, mostrando un patrón de franjas senoidales periódicas muy bien definidas. Gracias a la ausencia total de pérdidas (</a:t>
            </a:r>
            <a:r>
              <a:rPr lang="es-ES" sz="1600" i="1" dirty="0" err="1"/>
              <a:t>alpha</a:t>
            </a:r>
            <a:r>
              <a:rPr lang="es-ES" sz="1600" dirty="0"/>
              <a:t> = 0, </a:t>
            </a:r>
            <a:r>
              <a:rPr lang="es-ES" sz="1600" i="1" dirty="0"/>
              <a:t>gamma</a:t>
            </a:r>
            <a:r>
              <a:rPr lang="es-ES" sz="1600" dirty="0"/>
              <a:t> = 0) y al uso de acopladores perfectamente balanceados al 50%, la amplitud de las oscilaciones van de 0 a 1, definiendo así un FSR finito y fácil de medir.</a:t>
            </a:r>
          </a:p>
        </p:txBody>
      </p:sp>
    </p:spTree>
    <p:extLst>
      <p:ext uri="{BB962C8B-B14F-4D97-AF65-F5344CB8AC3E}">
        <p14:creationId xmlns:p14="http://schemas.microsoft.com/office/powerpoint/2010/main" val="2576391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5AB88-A787-2C84-3A44-2B634D87FB5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A153D08B-B860-A163-3940-83AD64444D0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xmlns="">
          <p:sp>
            <p:nvSpPr>
              <p:cNvPr id="16" name="object 16">
                <a:extLst>
                  <a:ext uri="{FF2B5EF4-FFF2-40B4-BE49-F238E27FC236}">
                    <a16:creationId xmlns:a16="http://schemas.microsoft.com/office/drawing/2014/main" id="{A153D08B-B860-A163-3940-83AD64444D01}"/>
                  </a:ext>
                </a:extLst>
              </p:cNvPr>
              <p:cNvSpPr txBox="1">
                <a:spLocks noGrp="1" noRot="1" noChangeAspect="1" noMove="1" noResize="1" noEditPoints="1" noAdjustHandles="1" noChangeArrowheads="1" noChangeShapeType="1" noTextEdit="1"/>
              </p:cNvSpPr>
              <p:nvPr>
                <p:ph type="title"/>
              </p:nvPr>
            </p:nvSpPr>
            <p:spPr>
              <a:xfrm>
                <a:off x="685800" y="408883"/>
                <a:ext cx="10994410" cy="782265"/>
              </a:xfrm>
              <a:prstGeom prst="rect">
                <a:avLst/>
              </a:prstGeom>
              <a:blipFill>
                <a:blip r:embed="rId3"/>
                <a:stretch>
                  <a:fillRect l="-1608" t="-10156"/>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333888A9-82BA-4688-F856-37AB661A7D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1891475-ED60-D0D2-1AD0-4F80E3D89439}"/>
              </a:ext>
            </a:extLst>
          </p:cNvPr>
          <p:cNvSpPr>
            <a:spLocks noGrp="1"/>
          </p:cNvSpPr>
          <p:nvPr>
            <p:ph type="sldNum" sz="quarter" idx="7"/>
          </p:nvPr>
        </p:nvSpPr>
        <p:spPr/>
        <p:txBody>
          <a:bodyPr/>
          <a:lstStyle/>
          <a:p>
            <a:fld id="{B6F15528-21DE-4FAA-801E-634DDDAF4B2B}" type="slidenum">
              <a:rPr lang="es-ES" smtClean="0"/>
              <a:t>6</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BBBE28D8-49EC-3B49-29AC-FD2FDAF3B0AF}"/>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Considering the n_{eff} values for the SOI cross-section, what would be the path difference (</a:t>
                </a:r>
                <a14:m>
                  <m:oMath xmlns:m="http://schemas.openxmlformats.org/officeDocument/2006/math">
                    <m:r>
                      <m:rPr>
                        <m:sty m:val="p"/>
                      </m:rPr>
                      <a:rPr lang="es-ES" sz="2000" b="0" i="0" smtClean="0">
                        <a:latin typeface="Cambria Math" panose="02040503050406030204" pitchFamily="18" charset="0"/>
                      </a:rPr>
                      <m:t>ΔL</m:t>
                    </m:r>
                    <m:r>
                      <a:rPr lang="es-ES" sz="2000" b="0" i="1" smtClean="0">
                        <a:latin typeface="Cambria Math" panose="02040503050406030204" pitchFamily="18" charset="0"/>
                      </a:rPr>
                      <m:t>= </m:t>
                    </m:r>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𝑢</m:t>
                        </m:r>
                      </m:sub>
                    </m:sSub>
                    <m:r>
                      <a:rPr lang="es-ES" sz="2000" b="0" i="1" smtClean="0">
                        <a:latin typeface="Cambria Math" panose="02040503050406030204" pitchFamily="18" charset="0"/>
                      </a:rPr>
                      <m:t> −</m:t>
                    </m:r>
                    <m:sSub>
                      <m:sSubPr>
                        <m:ctrlPr>
                          <a:rPr lang="es-ES" sz="2000" i="1">
                            <a:latin typeface="Cambria Math" panose="02040503050406030204" pitchFamily="18" charset="0"/>
                          </a:rPr>
                        </m:ctrlPr>
                      </m:sSubPr>
                      <m:e>
                        <m:r>
                          <a:rPr lang="es-ES" sz="2000" b="0" i="1">
                            <a:latin typeface="Cambria Math" panose="02040503050406030204" pitchFamily="18" charset="0"/>
                          </a:rPr>
                          <m:t>𝐿</m:t>
                        </m:r>
                      </m:e>
                      <m:sub>
                        <m:r>
                          <a:rPr lang="es-ES" sz="2000" b="0" i="1" smtClean="0">
                            <a:latin typeface="Cambria Math" panose="02040503050406030204" pitchFamily="18" charset="0"/>
                          </a:rPr>
                          <m:t>𝑑</m:t>
                        </m:r>
                      </m:sub>
                    </m:sSub>
                  </m:oMath>
                </a14:m>
                <a:r>
                  <a:rPr lang="en-US" sz="2000" dirty="0"/>
                  <a:t>) needed to obtain a Free Spectral Range of 40 nm? Introduce the obtained value in the model to check the MZI response. </a:t>
                </a:r>
              </a:p>
              <a:p>
                <a:endParaRPr lang="en-US" sz="2000" dirty="0"/>
              </a:p>
              <a:p>
                <a:r>
                  <a:rPr lang="en-US" sz="2000" dirty="0"/>
                  <a:t>Hint: We assume 1550 nm as the central design wavelength (</a:t>
                </a:r>
                <a14:m>
                  <m:oMath xmlns:m="http://schemas.openxmlformats.org/officeDocument/2006/math">
                    <m:sSub>
                      <m:sSubPr>
                        <m:ctrlPr>
                          <a:rPr lang="es-ES" sz="2000" i="1" smtClean="0">
                            <a:latin typeface="Cambria Math" panose="02040503050406030204" pitchFamily="18" charset="0"/>
                          </a:rPr>
                        </m:ctrlPr>
                      </m:sSubPr>
                      <m:e>
                        <m:r>
                          <a:rPr lang="es-ES" sz="2000" i="1">
                            <a:latin typeface="Cambria Math" panose="02040503050406030204" pitchFamily="18" charset="0"/>
                          </a:rPr>
                          <m:t>𝜆</m:t>
                        </m:r>
                      </m:e>
                      <m:sub>
                        <m:r>
                          <a:rPr lang="es-ES" sz="2000" b="0" i="1" smtClean="0">
                            <a:latin typeface="Cambria Math" panose="02040503050406030204" pitchFamily="18" charset="0"/>
                          </a:rPr>
                          <m:t>0</m:t>
                        </m:r>
                      </m:sub>
                    </m:sSub>
                    <m:r>
                      <a:rPr lang="es-ES" sz="2000" b="0" i="1" smtClean="0">
                        <a:latin typeface="Cambria Math" panose="02040503050406030204" pitchFamily="18" charset="0"/>
                      </a:rPr>
                      <m:t>= </m:t>
                    </m:r>
                  </m:oMath>
                </a14:m>
                <a:r>
                  <a:rPr lang="en-US" sz="2000" dirty="0"/>
                  <a:t>1550 nm).</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BBBE28D8-49EC-3B49-29AC-FD2FDAF3B0AF}"/>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6"/>
                <a:stretch>
                  <a:fillRect l="-607" t="-738"/>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CFDBBA6B-3646-055F-7A9C-EE01830137BE}"/>
              </a:ext>
            </a:extLst>
          </p:cNvPr>
          <p:cNvSpPr txBox="1"/>
          <p:nvPr/>
        </p:nvSpPr>
        <p:spPr>
          <a:xfrm>
            <a:off x="615789" y="3352800"/>
            <a:ext cx="6547012" cy="46166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corresponding value)</a:t>
            </a: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97B81335-0738-3406-18D4-5D88EB0C7954}"/>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7" name="Imagen 6">
            <a:extLst>
              <a:ext uri="{FF2B5EF4-FFF2-40B4-BE49-F238E27FC236}">
                <a16:creationId xmlns:a16="http://schemas.microsoft.com/office/drawing/2014/main" id="{9AA74071-27EF-9BC4-9F05-26666E76AF90}"/>
              </a:ext>
            </a:extLst>
          </p:cNvPr>
          <p:cNvPicPr>
            <a:picLocks noChangeAspect="1"/>
          </p:cNvPicPr>
          <p:nvPr/>
        </p:nvPicPr>
        <p:blipFill>
          <a:blip r:embed="rId7"/>
          <a:stretch>
            <a:fillRect/>
          </a:stretch>
        </p:blipFill>
        <p:spPr>
          <a:xfrm>
            <a:off x="7497538" y="3034141"/>
            <a:ext cx="4153253" cy="3332857"/>
          </a:xfrm>
          <a:prstGeom prst="rect">
            <a:avLst/>
          </a:prstGeom>
        </p:spPr>
      </p:pic>
      <p:sp>
        <p:nvSpPr>
          <p:cNvPr id="9" name="Rectangle 2">
            <a:extLst>
              <a:ext uri="{FF2B5EF4-FFF2-40B4-BE49-F238E27FC236}">
                <a16:creationId xmlns:a16="http://schemas.microsoft.com/office/drawing/2014/main" id="{016AD86E-7044-F629-02E0-95FD9BDD18DC}"/>
              </a:ext>
            </a:extLst>
          </p:cNvPr>
          <p:cNvSpPr>
            <a:spLocks noChangeArrowheads="1"/>
          </p:cNvSpPr>
          <p:nvPr/>
        </p:nvSpPr>
        <p:spPr bwMode="auto">
          <a:xfrm>
            <a:off x="574595" y="3979269"/>
            <a:ext cx="6629400" cy="2046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algn="just" eaLnBrk="0" fontAlgn="base" hangingPunct="0">
              <a:spcBef>
                <a:spcPct val="0"/>
              </a:spcBef>
              <a:spcAft>
                <a:spcPct val="0"/>
              </a:spcAft>
            </a:pPr>
            <a:r>
              <a:rPr kumimoji="0" lang="es-ES" altLang="es-ES" sz="1600" b="0" i="0" u="none" strike="noStrike" cap="none" normalizeH="0" baseline="0" dirty="0">
                <a:ln>
                  <a:noFill/>
                </a:ln>
                <a:solidFill>
                  <a:schemeClr val="tx1"/>
                </a:solidFill>
                <a:effectLst/>
                <a:latin typeface="Google Sans Text"/>
              </a:rPr>
              <a:t>Para </a:t>
            </a:r>
            <a:r>
              <a:rPr kumimoji="0" lang="es-ES" altLang="es-ES" sz="1600" b="0" u="none" strike="noStrike" cap="none" normalizeH="0" baseline="0" dirty="0">
                <a:ln>
                  <a:noFill/>
                </a:ln>
                <a:solidFill>
                  <a:schemeClr val="tx1"/>
                </a:solidFill>
                <a:effectLst/>
                <a:latin typeface="Google Sans Text"/>
              </a:rPr>
              <a:t>lograr un FSR de 40 </a:t>
            </a:r>
            <a:r>
              <a:rPr kumimoji="0" lang="es-ES" altLang="es-ES" sz="1600" b="0" i="0" u="none" strike="noStrike" cap="none" normalizeH="0" baseline="0" dirty="0">
                <a:ln>
                  <a:noFill/>
                </a:ln>
                <a:solidFill>
                  <a:schemeClr val="tx1"/>
                </a:solidFill>
                <a:effectLst/>
                <a:latin typeface="Google Sans Text"/>
              </a:rPr>
              <a:t>nm a una longitud de onda de 1550 nm</a:t>
            </a:r>
            <a:r>
              <a:rPr kumimoji="0" lang="es-ES" altLang="es-ES" sz="1600" b="0" i="0" u="none" strike="noStrike" cap="none" normalizeH="0" dirty="0">
                <a:ln>
                  <a:noFill/>
                </a:ln>
                <a:solidFill>
                  <a:schemeClr val="tx1"/>
                </a:solidFill>
                <a:effectLst/>
                <a:latin typeface="Google Sans Text"/>
              </a:rPr>
              <a:t> </a:t>
            </a:r>
            <a:r>
              <a:rPr kumimoji="0" lang="es-ES" altLang="es-ES" sz="1600" b="0" i="0" u="none" strike="noStrike" cap="none" normalizeH="0" baseline="0" dirty="0">
                <a:ln>
                  <a:noFill/>
                </a:ln>
                <a:solidFill>
                  <a:schemeClr val="tx1"/>
                </a:solidFill>
                <a:effectLst/>
                <a:latin typeface="Google Sans Text"/>
              </a:rPr>
              <a:t>es necesario aplicar un desbalance de longitud entre los brazos del MZI. Interpolando el índice efectivo de la guía SOI a 1.55nm</a:t>
            </a:r>
            <a:r>
              <a:rPr kumimoji="0" lang="es-ES" altLang="es-ES" sz="1600" b="0" i="0" u="none" strike="noStrike" cap="none" normalizeH="0" dirty="0">
                <a:ln>
                  <a:noFill/>
                </a:ln>
                <a:solidFill>
                  <a:schemeClr val="tx1"/>
                </a:solidFill>
                <a:effectLst/>
                <a:latin typeface="Google Sans Text"/>
              </a:rPr>
              <a:t> </a:t>
            </a:r>
            <a:r>
              <a:rPr kumimoji="0" lang="es-ES" altLang="es-ES" sz="1600" b="0" i="0" u="none" strike="noStrike" cap="none" normalizeH="0" baseline="0" dirty="0">
                <a:ln>
                  <a:noFill/>
                </a:ln>
                <a:solidFill>
                  <a:schemeClr val="tx1"/>
                </a:solidFill>
                <a:effectLst/>
                <a:latin typeface="Google Sans Text"/>
              </a:rPr>
              <a:t>y aplicando la formula de </a:t>
            </a:r>
            <a:r>
              <a:rPr kumimoji="0" lang="es-ES" altLang="es-ES" sz="1600" b="0" i="0" u="none" strike="noStrike" cap="none" normalizeH="0" baseline="0" dirty="0" err="1">
                <a:ln>
                  <a:noFill/>
                </a:ln>
                <a:solidFill>
                  <a:schemeClr val="tx1"/>
                </a:solidFill>
                <a:effectLst/>
                <a:latin typeface="Google Sans Text"/>
              </a:rPr>
              <a:t>delta_L</a:t>
            </a:r>
            <a:r>
              <a:rPr kumimoji="0" lang="es-ES" altLang="es-ES" sz="1600" b="0" i="0" u="none" strike="noStrike" cap="none" normalizeH="0" baseline="0" dirty="0">
                <a:ln>
                  <a:noFill/>
                </a:ln>
                <a:solidFill>
                  <a:schemeClr val="tx1"/>
                </a:solidFill>
                <a:effectLst/>
                <a:latin typeface="Google Sans Text"/>
              </a:rPr>
              <a:t>, </a:t>
            </a:r>
            <a:r>
              <a:rPr lang="es-ES" altLang="es-ES" sz="1600" dirty="0">
                <a:latin typeface="Google Sans Text"/>
              </a:rPr>
              <a:t>tenemos </a:t>
            </a:r>
            <a:r>
              <a:rPr kumimoji="0" lang="es-ES" altLang="es-ES" sz="1600" b="0" i="0" u="none" strike="noStrike" cap="none" normalizeH="0" baseline="0" dirty="0">
                <a:ln>
                  <a:noFill/>
                </a:ln>
                <a:solidFill>
                  <a:schemeClr val="tx1"/>
                </a:solidFill>
                <a:effectLst/>
                <a:latin typeface="Google Sans Text"/>
              </a:rPr>
              <a:t>que la diferencia geométrica requerida es de </a:t>
            </a:r>
            <a:r>
              <a:rPr lang="es-ES" sz="1600" b="1" dirty="0">
                <a:latin typeface="Google Sans Text"/>
              </a:rPr>
              <a:t>13.9899</a:t>
            </a:r>
            <a:r>
              <a:rPr lang="es-ES" altLang="es-ES" sz="1600" b="1" dirty="0">
                <a:latin typeface="Google Sans Text"/>
              </a:rPr>
              <a:t> nm.</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chemeClr val="tx1"/>
                </a:solidFill>
                <a:effectLst/>
                <a:latin typeface="Google Sans Text"/>
              </a:rPr>
              <a:t>Al simular el modelo matemático con este valor de </a:t>
            </a:r>
            <a:r>
              <a:rPr kumimoji="0" lang="es-ES" altLang="es-ES" sz="1600" b="0" i="0" u="none" strike="noStrike" cap="none" normalizeH="0" baseline="0" dirty="0" err="1">
                <a:ln>
                  <a:noFill/>
                </a:ln>
                <a:solidFill>
                  <a:schemeClr val="tx1"/>
                </a:solidFill>
                <a:effectLst/>
                <a:latin typeface="Google Sans Text"/>
              </a:rPr>
              <a:t>delta_L</a:t>
            </a:r>
            <a:r>
              <a:rPr lang="es-ES" altLang="es-ES" sz="1600" dirty="0">
                <a:latin typeface="Google Sans Text"/>
              </a:rPr>
              <a:t>, </a:t>
            </a:r>
            <a:r>
              <a:rPr kumimoji="0" lang="es-ES" altLang="es-ES" sz="1600" b="0" i="0" u="none" strike="noStrike" cap="none" normalizeH="0" baseline="0" dirty="0">
                <a:ln>
                  <a:noFill/>
                </a:ln>
                <a:solidFill>
                  <a:schemeClr val="tx1"/>
                </a:solidFill>
                <a:effectLst/>
                <a:latin typeface="Google Sans Text"/>
              </a:rPr>
              <a:t>la función de transferencia confirma el diseño. La gráfica muestra el patrón oscilatorio característico de un filtro </a:t>
            </a:r>
            <a:r>
              <a:rPr kumimoji="0" lang="es-ES" altLang="es-ES" sz="1600" b="0" i="0" u="none" strike="noStrike" cap="none" normalizeH="0" baseline="0" dirty="0" err="1">
                <a:ln>
                  <a:noFill/>
                </a:ln>
                <a:solidFill>
                  <a:schemeClr val="tx1"/>
                </a:solidFill>
                <a:effectLst/>
                <a:latin typeface="Google Sans Text"/>
              </a:rPr>
              <a:t>interferométrico</a:t>
            </a:r>
            <a:r>
              <a:rPr kumimoji="0" lang="es-ES" altLang="es-ES" sz="1600" b="0" i="0" u="none" strike="noStrike" cap="none" normalizeH="0" baseline="0" dirty="0">
                <a:ln>
                  <a:noFill/>
                </a:ln>
                <a:solidFill>
                  <a:schemeClr val="tx1"/>
                </a:solidFill>
                <a:effectLst/>
                <a:latin typeface="Google Sans Text"/>
              </a:rPr>
              <a:t>, donde la distancia espectral entre dos picos consecutivos de transmisión </a:t>
            </a:r>
            <a:r>
              <a:rPr lang="es-ES" altLang="es-ES" sz="1600" dirty="0">
                <a:latin typeface="Google Sans Text"/>
              </a:rPr>
              <a:t>es </a:t>
            </a:r>
            <a:r>
              <a:rPr kumimoji="0" lang="es-ES" altLang="es-ES" sz="1600" b="0" i="0" u="none" strike="noStrike" cap="none" normalizeH="0" baseline="0" dirty="0">
                <a:ln>
                  <a:noFill/>
                </a:ln>
                <a:solidFill>
                  <a:schemeClr val="tx1"/>
                </a:solidFill>
                <a:effectLst/>
                <a:latin typeface="Google Sans Text"/>
              </a:rPr>
              <a:t>de 40 nm.</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37098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9552-DF22-1310-10FA-4D2D2AF7760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0632A48-0384-0EF1-389E-FBF3F9C3E7CE}"/>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#3 </a:t>
            </a:r>
            <a:r>
              <a:rPr lang="en-US" sz="2500" dirty="0"/>
              <a:t>– SAX implementation </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F43E6A6-5CC3-9B99-14AC-997478150C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FC09DB6-1DF7-C8F9-7414-27BC280DEA0F}"/>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4" name="Marcador de texto 2">
            <a:extLst>
              <a:ext uri="{FF2B5EF4-FFF2-40B4-BE49-F238E27FC236}">
                <a16:creationId xmlns:a16="http://schemas.microsoft.com/office/drawing/2014/main" id="{EBC8DCFA-5565-A757-1F8D-F4CCCF573A63}"/>
              </a:ext>
            </a:extLst>
          </p:cNvPr>
          <p:cNvSpPr txBox="1">
            <a:spLocks/>
          </p:cNvSpPr>
          <p:nvPr/>
        </p:nvSpPr>
        <p:spPr>
          <a:xfrm>
            <a:off x="571500" y="10668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dirty="0"/>
              <a:t>Now, we are going to implement the design parameters in the MZI model developed in SAX and compare the response obtained with the one simulated by mathematical formulation. This will help us to identify any error in the definition of the SAX model single components. </a:t>
            </a:r>
          </a:p>
          <a:p>
            <a:br>
              <a:rPr lang="en-US" dirty="0"/>
            </a:br>
            <a:r>
              <a:rPr lang="en-US" dirty="0"/>
              <a:t>In order to implement the SAX model, take as example the following lines:</a:t>
            </a:r>
          </a:p>
          <a:p>
            <a:endParaRPr lang="en-US" dirty="0"/>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 = </a:t>
            </a:r>
            <a:r>
              <a:rPr lang="es-ES" sz="1400" b="0" dirty="0" err="1">
                <a:effectLst/>
                <a:latin typeface="Courier New" panose="02070309020205020404" pitchFamily="49" charset="0"/>
              </a:rPr>
              <a:t>mzi</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coup_a</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wvg_d</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l_d</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wvg_u</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l_u</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coup_b</a:t>
            </a:r>
            <a:r>
              <a:rPr lang="es-ES" sz="1400" b="0" dirty="0">
                <a:effectLst/>
                <a:latin typeface="Courier New" panose="02070309020205020404" pitchFamily="49" charset="0"/>
              </a:rPr>
              <a:t> = ... )</a:t>
            </a:r>
          </a:p>
          <a:p>
            <a:pPr lvl="2">
              <a:lnSpc>
                <a:spcPts val="1425"/>
              </a:lnSpc>
            </a:pPr>
            <a:br>
              <a:rPr lang="es-ES" sz="1400" b="0" dirty="0">
                <a:effectLst/>
                <a:latin typeface="Courier New" panose="02070309020205020404" pitchFamily="49" charset="0"/>
              </a:rPr>
            </a:br>
            <a:r>
              <a:rPr lang="es-ES" sz="1400" b="0" dirty="0">
                <a:effectLst/>
                <a:latin typeface="Courier New" panose="02070309020205020404" pitchFamily="49" charset="0"/>
              </a:rPr>
              <a:t>    H00 =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["in0", "out0"]</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CA4A2D6E-5993-52B3-D251-1ADF2B0C8355}"/>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transfer function employing SAX modeling and include the comparative plot of the models)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ED97C9D0-256C-D4CA-42E7-79330F040B30}"/>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6436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23557B-4A53-1289-E90C-6DB7C97DECAA}"/>
              </a:ext>
            </a:extLst>
          </p:cNvPr>
          <p:cNvSpPr>
            <a:spLocks noGrp="1"/>
          </p:cNvSpPr>
          <p:nvPr>
            <p:ph type="title"/>
          </p:nvPr>
        </p:nvSpPr>
        <p:spPr>
          <a:xfrm>
            <a:off x="600075" y="316301"/>
            <a:ext cx="10991850" cy="307777"/>
          </a:xfrm>
        </p:spPr>
        <p:txBody>
          <a:bodyPr/>
          <a:lstStyle/>
          <a:p>
            <a:r>
              <a:rPr lang="es-ES" dirty="0"/>
              <a:t>RESULTADO ASSESSMENT 3</a:t>
            </a:r>
          </a:p>
        </p:txBody>
      </p:sp>
      <p:sp>
        <p:nvSpPr>
          <p:cNvPr id="4" name="Marcador de pie de página 3">
            <a:extLst>
              <a:ext uri="{FF2B5EF4-FFF2-40B4-BE49-F238E27FC236}">
                <a16:creationId xmlns:a16="http://schemas.microsoft.com/office/drawing/2014/main" id="{D7450D25-12E4-707F-C74B-5DD97197EAEF}"/>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EA19DD35-F68B-5DB2-B523-F3DD8B1DF7C5}"/>
              </a:ext>
            </a:extLst>
          </p:cNvPr>
          <p:cNvSpPr>
            <a:spLocks noGrp="1"/>
          </p:cNvSpPr>
          <p:nvPr>
            <p:ph type="sldNum" sz="quarter" idx="7"/>
          </p:nvPr>
        </p:nvSpPr>
        <p:spPr/>
        <p:txBody>
          <a:bodyPr/>
          <a:lstStyle/>
          <a:p>
            <a:fld id="{B6F15528-21DE-4FAA-801E-634DDDAF4B2B}" type="slidenum">
              <a:rPr lang="es-ES" smtClean="0"/>
              <a:t>8</a:t>
            </a:fld>
            <a:endParaRPr lang="es-ES"/>
          </a:p>
        </p:txBody>
      </p:sp>
      <p:pic>
        <p:nvPicPr>
          <p:cNvPr id="7" name="Imagen 6" descr="Gráfico&#10;&#10;El contenido generado por IA puede ser incorrecto.">
            <a:extLst>
              <a:ext uri="{FF2B5EF4-FFF2-40B4-BE49-F238E27FC236}">
                <a16:creationId xmlns:a16="http://schemas.microsoft.com/office/drawing/2014/main" id="{970C693C-397E-C05E-341A-475268AA5ED2}"/>
              </a:ext>
            </a:extLst>
          </p:cNvPr>
          <p:cNvPicPr>
            <a:picLocks noChangeAspect="1"/>
          </p:cNvPicPr>
          <p:nvPr/>
        </p:nvPicPr>
        <p:blipFill>
          <a:blip r:embed="rId2"/>
          <a:stretch>
            <a:fillRect/>
          </a:stretch>
        </p:blipFill>
        <p:spPr>
          <a:xfrm>
            <a:off x="6061593" y="867430"/>
            <a:ext cx="4216900" cy="3383932"/>
          </a:xfrm>
          <a:prstGeom prst="rect">
            <a:avLst/>
          </a:prstGeom>
        </p:spPr>
      </p:pic>
      <p:pic>
        <p:nvPicPr>
          <p:cNvPr id="8" name="Imagen 7" descr="Gráfico&#10;&#10;El contenido generado por IA puede ser incorrecto.">
            <a:extLst>
              <a:ext uri="{FF2B5EF4-FFF2-40B4-BE49-F238E27FC236}">
                <a16:creationId xmlns:a16="http://schemas.microsoft.com/office/drawing/2014/main" id="{88550AFA-4D98-680F-D7F6-469FB55B884D}"/>
              </a:ext>
            </a:extLst>
          </p:cNvPr>
          <p:cNvPicPr>
            <a:picLocks noChangeAspect="1"/>
          </p:cNvPicPr>
          <p:nvPr/>
        </p:nvPicPr>
        <p:blipFill>
          <a:blip r:embed="rId3"/>
          <a:stretch>
            <a:fillRect/>
          </a:stretch>
        </p:blipFill>
        <p:spPr>
          <a:xfrm>
            <a:off x="990600" y="847214"/>
            <a:ext cx="4257344" cy="3416387"/>
          </a:xfrm>
          <a:prstGeom prst="rect">
            <a:avLst/>
          </a:prstGeom>
        </p:spPr>
      </p:pic>
      <p:sp>
        <p:nvSpPr>
          <p:cNvPr id="9" name="Rectangle 2">
            <a:extLst>
              <a:ext uri="{FF2B5EF4-FFF2-40B4-BE49-F238E27FC236}">
                <a16:creationId xmlns:a16="http://schemas.microsoft.com/office/drawing/2014/main" id="{6FF249A7-CAA7-725F-6587-42C3E249687C}"/>
              </a:ext>
            </a:extLst>
          </p:cNvPr>
          <p:cNvSpPr>
            <a:spLocks noChangeArrowheads="1"/>
          </p:cNvSpPr>
          <p:nvPr/>
        </p:nvSpPr>
        <p:spPr bwMode="auto">
          <a:xfrm>
            <a:off x="381000" y="4441126"/>
            <a:ext cx="111252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indent="0" algn="just" eaLnBrk="0" fontAlgn="base" hangingPunct="0">
              <a:lnSpc>
                <a:spcPct val="100000"/>
              </a:lnSpc>
              <a:spcBef>
                <a:spcPct val="0"/>
              </a:spcBef>
              <a:spcAft>
                <a:spcPct val="0"/>
              </a:spcAft>
              <a:buClrTx/>
              <a:buSzTx/>
              <a:buFontTx/>
              <a:buNone/>
              <a:tabLst/>
            </a:pPr>
            <a:r>
              <a:rPr lang="es-ES" altLang="es-ES" sz="1600" dirty="0">
                <a:latin typeface="Google Sans Text"/>
              </a:rPr>
              <a:t>He usado una configuración completamente balanceada, usando el mismo material (SOI) y la misma longitud geométrica (Lu=25um y </a:t>
            </a:r>
            <a:r>
              <a:rPr lang="es-ES" altLang="es-ES" sz="1600" dirty="0" err="1">
                <a:latin typeface="Google Sans Text"/>
              </a:rPr>
              <a:t>Ld</a:t>
            </a:r>
            <a:r>
              <a:rPr lang="es-ES" altLang="es-ES" sz="1600" dirty="0">
                <a:latin typeface="Google Sans Text"/>
              </a:rPr>
              <a:t>=25um) para ambos brazos. Al comparar la gráfica obtenida mediante SAX con la del modelo analítico previo, podemos ver que sus comportamientos de las FDT coinciden exactamente. Ambas tienen una transmisión máxima y constante de 1 en uno de los puertos cruzados y una anulación total (0) en el otro. Esta coincidencia de los resultados confirma que los modelos base de la guía de onda y del acoplador direccional en SAX, están definidos correctamente y sin errores, replicando fielmente la física teórica del dispositivo.</a:t>
            </a:r>
          </a:p>
        </p:txBody>
      </p:sp>
    </p:spTree>
    <p:extLst>
      <p:ext uri="{BB962C8B-B14F-4D97-AF65-F5344CB8AC3E}">
        <p14:creationId xmlns:p14="http://schemas.microsoft.com/office/powerpoint/2010/main" val="3804435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Assessment 4</a:t>
            </a:r>
            <a:r>
              <a:rPr lang="en-US" dirty="0"/>
              <a:t>. Design an MZI for filtering at a specific wavelength. Calculate and adjust the arm lengths to configure the MZI to have a maximum transmission at 1550 nm.</a:t>
            </a:r>
          </a:p>
          <a:p>
            <a:endParaRPr lang="en-US" b="1" dirty="0"/>
          </a:p>
          <a:p>
            <a:r>
              <a:rPr lang="en-US" b="1" dirty="0"/>
              <a:t>Assessment 5. </a:t>
            </a:r>
            <a:r>
              <a:rPr lang="en-US" dirty="0"/>
              <a:t>Let's see how the response of the MZI varies with the effective index. Vary the effective index of one of the arms and analyze how the spectrum shifts. To do this, you can use the data provided in the .txt files entitled ‘</a:t>
            </a:r>
            <a:r>
              <a:rPr lang="en-US" dirty="0" err="1"/>
              <a:t>SiN</a:t>
            </a:r>
            <a:r>
              <a:rPr lang="en-US" dirty="0"/>
              <a:t>’. Can you give an example of an application where this configuration is used?</a:t>
            </a:r>
          </a:p>
          <a:p>
            <a:pPr marL="0" indent="0">
              <a:buNone/>
            </a:pPr>
            <a:endParaRPr lang="en-US" dirty="0"/>
          </a:p>
          <a:p>
            <a:r>
              <a:rPr lang="en-US" b="1" dirty="0"/>
              <a:t>Advanced level assessment.</a:t>
            </a:r>
            <a:r>
              <a:rPr lang="en-US" dirty="0"/>
              <a:t> Explore how cascading two MZIs affects the transmission spectrum. To do so, design a system in which two MZIs are cascaded. Simulate and observe the spectrum, explaining how the transmission peaks behave</a:t>
            </a:r>
            <a:r>
              <a:rPr lang="en-US" b="1" dirty="0"/>
              <a:t>.</a:t>
            </a:r>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Marcador de pie de página 2">
            <a:extLst>
              <a:ext uri="{FF2B5EF4-FFF2-40B4-BE49-F238E27FC236}">
                <a16:creationId xmlns:a16="http://schemas.microsoft.com/office/drawing/2014/main" id="{04C1A7E9-6C33-172D-E7B9-CCF643221E6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0438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2102-EFB7-9B5E-498F-8C5752A06A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BACA8AF-CEA7-1C50-0EAE-9E074568B961}"/>
              </a:ext>
            </a:extLst>
          </p:cNvPr>
          <p:cNvSpPr>
            <a:spLocks noGrp="1"/>
          </p:cNvSpPr>
          <p:nvPr>
            <p:ph type="title"/>
          </p:nvPr>
        </p:nvSpPr>
        <p:spPr>
          <a:xfrm>
            <a:off x="600075" y="316301"/>
            <a:ext cx="10991850" cy="307777"/>
          </a:xfrm>
        </p:spPr>
        <p:txBody>
          <a:bodyPr/>
          <a:lstStyle/>
          <a:p>
            <a:r>
              <a:rPr lang="es-ES" dirty="0"/>
              <a:t>RESULTADO ASSESSMENT 4</a:t>
            </a:r>
          </a:p>
        </p:txBody>
      </p:sp>
      <p:sp>
        <p:nvSpPr>
          <p:cNvPr id="4" name="Marcador de pie de página 3">
            <a:extLst>
              <a:ext uri="{FF2B5EF4-FFF2-40B4-BE49-F238E27FC236}">
                <a16:creationId xmlns:a16="http://schemas.microsoft.com/office/drawing/2014/main" id="{73C069A9-3FDF-3C09-8925-033C88CDD698}"/>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76178692-9055-D866-F184-BC07CF583E41}"/>
              </a:ext>
            </a:extLst>
          </p:cNvPr>
          <p:cNvSpPr>
            <a:spLocks noGrp="1"/>
          </p:cNvSpPr>
          <p:nvPr>
            <p:ph type="sldNum" sz="quarter" idx="7"/>
          </p:nvPr>
        </p:nvSpPr>
        <p:spPr/>
        <p:txBody>
          <a:bodyPr/>
          <a:lstStyle/>
          <a:p>
            <a:fld id="{B6F15528-21DE-4FAA-801E-634DDDAF4B2B}" type="slidenum">
              <a:rPr lang="es-ES" smtClean="0"/>
              <a:t>10</a:t>
            </a:fld>
            <a:endParaRPr lang="es-ES"/>
          </a:p>
        </p:txBody>
      </p:sp>
      <p:pic>
        <p:nvPicPr>
          <p:cNvPr id="6" name="Imagen 5">
            <a:extLst>
              <a:ext uri="{FF2B5EF4-FFF2-40B4-BE49-F238E27FC236}">
                <a16:creationId xmlns:a16="http://schemas.microsoft.com/office/drawing/2014/main" id="{7688E497-4CC4-0DD9-0FD6-42BA7FEE4F4F}"/>
              </a:ext>
            </a:extLst>
          </p:cNvPr>
          <p:cNvPicPr>
            <a:picLocks noChangeAspect="1"/>
          </p:cNvPicPr>
          <p:nvPr/>
        </p:nvPicPr>
        <p:blipFill>
          <a:blip r:embed="rId2"/>
          <a:stretch>
            <a:fillRect/>
          </a:stretch>
        </p:blipFill>
        <p:spPr>
          <a:xfrm>
            <a:off x="274857" y="1447800"/>
            <a:ext cx="6155886" cy="3762375"/>
          </a:xfrm>
          <a:prstGeom prst="rect">
            <a:avLst/>
          </a:prstGeom>
        </p:spPr>
      </p:pic>
      <p:sp>
        <p:nvSpPr>
          <p:cNvPr id="10" name="Rectangle 1">
            <a:extLst>
              <a:ext uri="{FF2B5EF4-FFF2-40B4-BE49-F238E27FC236}">
                <a16:creationId xmlns:a16="http://schemas.microsoft.com/office/drawing/2014/main" id="{09BDA639-D7FF-D119-3475-270927BCF711}"/>
              </a:ext>
            </a:extLst>
          </p:cNvPr>
          <p:cNvSpPr>
            <a:spLocks noChangeArrowheads="1"/>
          </p:cNvSpPr>
          <p:nvPr/>
        </p:nvSpPr>
        <p:spPr bwMode="auto">
          <a:xfrm>
            <a:off x="6580429" y="1582355"/>
            <a:ext cx="5307167" cy="349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chemeClr val="tx1"/>
                </a:solidFill>
                <a:effectLst/>
                <a:latin typeface="Google Sans Text"/>
              </a:rPr>
              <a:t>Para diseñar el MZI como un filtro con transmisión máxima a 1550 nm , </a:t>
            </a:r>
            <a:r>
              <a:rPr lang="es-ES" altLang="es-ES" sz="1600" dirty="0">
                <a:latin typeface="Google Sans Text"/>
              </a:rPr>
              <a:t>primero se ha establecido una configuración simétrica de los materiales de los dos. Así solo se establece una asimetría en su longitud.</a:t>
            </a:r>
            <a:r>
              <a:rPr kumimoji="0" lang="es-ES" altLang="es-ES" sz="1600" b="0" i="0" u="none" strike="noStrike" cap="none" normalizeH="0" baseline="0" dirty="0">
                <a:ln>
                  <a:noFill/>
                </a:ln>
                <a:solidFill>
                  <a:schemeClr val="tx1"/>
                </a:solidFill>
                <a:effectLst/>
                <a:latin typeface="Google Sans Text"/>
              </a:rPr>
              <a:t> Luego, se ha calculado su índice efectivo exacto a 1.55 </a:t>
            </a:r>
            <a:r>
              <a:rPr kumimoji="0" lang="es-ES" altLang="es-ES" sz="1600" b="0" i="0" u="none" strike="noStrike" cap="none" normalizeH="0" baseline="0" dirty="0" err="1">
                <a:ln>
                  <a:noFill/>
                </a:ln>
                <a:solidFill>
                  <a:schemeClr val="tx1"/>
                </a:solidFill>
                <a:effectLst/>
                <a:latin typeface="Google Sans Text"/>
              </a:rPr>
              <a:t>um</a:t>
            </a:r>
            <a:r>
              <a:rPr kumimoji="0" lang="es-ES" altLang="es-ES" sz="1600" b="0" i="0" u="none" strike="noStrike" cap="none" normalizeH="0" baseline="0" dirty="0">
                <a:ln>
                  <a:noFill/>
                </a:ln>
                <a:solidFill>
                  <a:schemeClr val="tx1"/>
                </a:solidFill>
                <a:effectLst/>
                <a:latin typeface="Google Sans Text"/>
              </a:rPr>
              <a:t> a partir de interpolación cúbica y se ha determinado el desbalance de longitud (</a:t>
            </a:r>
            <a:r>
              <a:rPr kumimoji="0" lang="es-ES" altLang="es-ES" sz="1600" b="0" i="0" u="none" strike="noStrike" cap="none" normalizeH="0" baseline="0" dirty="0" err="1">
                <a:ln>
                  <a:noFill/>
                </a:ln>
                <a:solidFill>
                  <a:schemeClr val="tx1"/>
                </a:solidFill>
                <a:effectLst/>
                <a:latin typeface="Google Sans Text"/>
              </a:rPr>
              <a:t>delta_L</a:t>
            </a:r>
            <a:r>
              <a:rPr kumimoji="0" lang="es-ES" altLang="es-ES" sz="1600" b="0" i="0" u="none" strike="noStrike" cap="none" normalizeH="0" baseline="0" dirty="0">
                <a:ln>
                  <a:noFill/>
                </a:ln>
                <a:solidFill>
                  <a:schemeClr val="tx1"/>
                </a:solidFill>
                <a:effectLst/>
                <a:latin typeface="Google Sans Text"/>
              </a:rPr>
              <a:t>) necesario para </a:t>
            </a:r>
            <a:r>
              <a:rPr lang="es-ES" altLang="es-ES" sz="1600" dirty="0">
                <a:latin typeface="Google Sans Text"/>
              </a:rPr>
              <a:t>cumplir con la </a:t>
            </a:r>
            <a:r>
              <a:rPr kumimoji="0" lang="es-ES" altLang="es-ES" sz="1600" b="0" i="0" u="none" strike="noStrike" cap="none" normalizeH="0" baseline="0" dirty="0">
                <a:ln>
                  <a:noFill/>
                </a:ln>
                <a:solidFill>
                  <a:schemeClr val="tx1"/>
                </a:solidFill>
                <a:effectLst/>
                <a:latin typeface="Google Sans Text"/>
              </a:rPr>
              <a:t>condición de máxima transmisión (diferencia de fase múltiplo </a:t>
            </a:r>
            <a:r>
              <a:rPr kumimoji="0" lang="es-ES" altLang="es-ES" sz="1600" b="0" i="0" u="none" strike="noStrike" cap="none" normalizeH="0" baseline="0" dirty="0" err="1">
                <a:ln>
                  <a:noFill/>
                </a:ln>
                <a:solidFill>
                  <a:schemeClr val="tx1"/>
                </a:solidFill>
                <a:effectLst/>
                <a:latin typeface="Google Sans Text"/>
              </a:rPr>
              <a:t>dentero</a:t>
            </a:r>
            <a:r>
              <a:rPr kumimoji="0" lang="es-ES" altLang="es-ES" sz="1600" b="0" i="0" u="none" strike="noStrike" cap="none" normalizeH="0" baseline="0" dirty="0">
                <a:ln>
                  <a:noFill/>
                </a:ln>
                <a:solidFill>
                  <a:schemeClr val="tx1"/>
                </a:solidFill>
                <a:effectLst/>
                <a:latin typeface="Google Sans Text"/>
              </a:rPr>
              <a:t> de 2pi y con un orden de interferencia de m=20). </a:t>
            </a:r>
            <a:r>
              <a:rPr lang="es-ES" altLang="es-ES" sz="1600" dirty="0">
                <a:latin typeface="Google Sans Text"/>
              </a:rPr>
              <a:t>El espectro obtenido con SAX con esa </a:t>
            </a:r>
            <a:r>
              <a:rPr lang="es-ES" altLang="es-ES" sz="1600" dirty="0" err="1">
                <a:latin typeface="Google Sans Text"/>
              </a:rPr>
              <a:t>delta_L</a:t>
            </a:r>
            <a:r>
              <a:rPr lang="es-ES" altLang="es-ES" sz="1600" dirty="0">
                <a:latin typeface="Google Sans Text"/>
              </a:rPr>
              <a:t> </a:t>
            </a:r>
            <a:r>
              <a:rPr kumimoji="0" lang="es-ES" altLang="es-ES" sz="1600" b="0" i="0" u="none" strike="noStrike" cap="none" normalizeH="0" baseline="0" dirty="0">
                <a:ln>
                  <a:noFill/>
                </a:ln>
                <a:solidFill>
                  <a:schemeClr val="tx1"/>
                </a:solidFill>
                <a:effectLst/>
                <a:latin typeface="Google Sans Text"/>
              </a:rPr>
              <a:t>confirma el comportamiento de filtro periódico. En la gráfica se observa que el puerto cruzado (Cross, H01) llega a una interferencia totalmente constructiva, con su pico de máxima transmisión de manera exacta sobre la línea objetivo de 1550 nm, cumpliendo así con los requisitos del diseño.</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9402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35EA3-F6CC-AFBB-2C2F-D5FE1BD9DC8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04479EF-EB01-A4AA-BC6D-FB9EDB0F9C0D}"/>
              </a:ext>
            </a:extLst>
          </p:cNvPr>
          <p:cNvSpPr>
            <a:spLocks noGrp="1"/>
          </p:cNvSpPr>
          <p:nvPr>
            <p:ph type="title"/>
          </p:nvPr>
        </p:nvSpPr>
        <p:spPr>
          <a:xfrm>
            <a:off x="600075" y="316301"/>
            <a:ext cx="10991850" cy="307777"/>
          </a:xfrm>
        </p:spPr>
        <p:txBody>
          <a:bodyPr/>
          <a:lstStyle/>
          <a:p>
            <a:r>
              <a:rPr lang="es-ES" dirty="0"/>
              <a:t>RESULTADO ASSESSMENT 5</a:t>
            </a:r>
          </a:p>
        </p:txBody>
      </p:sp>
      <p:sp>
        <p:nvSpPr>
          <p:cNvPr id="4" name="Marcador de pie de página 3">
            <a:extLst>
              <a:ext uri="{FF2B5EF4-FFF2-40B4-BE49-F238E27FC236}">
                <a16:creationId xmlns:a16="http://schemas.microsoft.com/office/drawing/2014/main" id="{F963BC45-0BFE-2131-A2DC-B57F6122FAA6}"/>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AB4B94F4-35EE-40CB-81CF-89FACF367B9C}"/>
              </a:ext>
            </a:extLst>
          </p:cNvPr>
          <p:cNvSpPr>
            <a:spLocks noGrp="1"/>
          </p:cNvSpPr>
          <p:nvPr>
            <p:ph type="sldNum" sz="quarter" idx="7"/>
          </p:nvPr>
        </p:nvSpPr>
        <p:spPr/>
        <p:txBody>
          <a:bodyPr/>
          <a:lstStyle/>
          <a:p>
            <a:fld id="{B6F15528-21DE-4FAA-801E-634DDDAF4B2B}" type="slidenum">
              <a:rPr lang="es-ES" smtClean="0"/>
              <a:t>11</a:t>
            </a:fld>
            <a:endParaRPr lang="es-ES"/>
          </a:p>
        </p:txBody>
      </p:sp>
      <p:pic>
        <p:nvPicPr>
          <p:cNvPr id="6" name="Imagen 5">
            <a:extLst>
              <a:ext uri="{FF2B5EF4-FFF2-40B4-BE49-F238E27FC236}">
                <a16:creationId xmlns:a16="http://schemas.microsoft.com/office/drawing/2014/main" id="{237D95F3-68DF-9109-5CC1-FD36629E5DCA}"/>
              </a:ext>
            </a:extLst>
          </p:cNvPr>
          <p:cNvPicPr>
            <a:picLocks noChangeAspect="1"/>
          </p:cNvPicPr>
          <p:nvPr/>
        </p:nvPicPr>
        <p:blipFill>
          <a:blip r:embed="rId2"/>
          <a:stretch>
            <a:fillRect/>
          </a:stretch>
        </p:blipFill>
        <p:spPr>
          <a:xfrm>
            <a:off x="572084" y="838200"/>
            <a:ext cx="5327073" cy="3276600"/>
          </a:xfrm>
          <a:prstGeom prst="rect">
            <a:avLst/>
          </a:prstGeom>
        </p:spPr>
      </p:pic>
      <p:sp>
        <p:nvSpPr>
          <p:cNvPr id="7" name="Rectangle 1">
            <a:extLst>
              <a:ext uri="{FF2B5EF4-FFF2-40B4-BE49-F238E27FC236}">
                <a16:creationId xmlns:a16="http://schemas.microsoft.com/office/drawing/2014/main" id="{BBB22FF9-B8EB-796D-4302-850CFBD813AF}"/>
              </a:ext>
            </a:extLst>
          </p:cNvPr>
          <p:cNvSpPr>
            <a:spLocks noChangeArrowheads="1"/>
          </p:cNvSpPr>
          <p:nvPr/>
        </p:nvSpPr>
        <p:spPr bwMode="auto">
          <a:xfrm>
            <a:off x="6248400" y="1345420"/>
            <a:ext cx="5181600" cy="22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ES" altLang="es-ES" sz="1600" dirty="0">
                <a:latin typeface="Google Sans Text"/>
              </a:rPr>
              <a:t>Ahora el puerto superior mantiene el mismo </a:t>
            </a:r>
            <a:r>
              <a:rPr lang="es-ES" altLang="es-ES" sz="1600" dirty="0" err="1">
                <a:latin typeface="Google Sans Text"/>
              </a:rPr>
              <a:t>cladding</a:t>
            </a:r>
            <a:r>
              <a:rPr lang="es-ES" altLang="es-ES" sz="1600" dirty="0">
                <a:latin typeface="Google Sans Text"/>
              </a:rPr>
              <a:t> pero el inferior ahora está en medio acuoso. Al cambiar el entorno de la guía de onda, el índice de refracción efectivo varía, lo que altera la velocidad de propagación de la luz y modifica el camino óptico recorrido en ese tramo. Ten la gráfica se puede ver que esta alteración genera una diferencia de fase adicional que genera un desplazamiento horizontal del patrón de respecto al espectro original, manteniendo prácticamente intactos la amplitud y el FSR.</a:t>
            </a:r>
          </a:p>
        </p:txBody>
      </p:sp>
      <p:sp>
        <p:nvSpPr>
          <p:cNvPr id="8" name="CuadroTexto 7">
            <a:extLst>
              <a:ext uri="{FF2B5EF4-FFF2-40B4-BE49-F238E27FC236}">
                <a16:creationId xmlns:a16="http://schemas.microsoft.com/office/drawing/2014/main" id="{F63BF62F-9E07-CE3F-2F9D-AF2FC0089617}"/>
              </a:ext>
            </a:extLst>
          </p:cNvPr>
          <p:cNvSpPr txBox="1"/>
          <p:nvPr/>
        </p:nvSpPr>
        <p:spPr>
          <a:xfrm>
            <a:off x="685800" y="4366242"/>
            <a:ext cx="10906125" cy="1323439"/>
          </a:xfrm>
          <a:prstGeom prst="rect">
            <a:avLst/>
          </a:prstGeom>
          <a:noFill/>
        </p:spPr>
        <p:txBody>
          <a:bodyPr wrap="square">
            <a:spAutoFit/>
          </a:bodyPr>
          <a:lstStyle/>
          <a:p>
            <a:pPr algn="just"/>
            <a:r>
              <a:rPr lang="es-ES" sz="1600" dirty="0"/>
              <a:t>Este tipo de diseño se podría usar para </a:t>
            </a:r>
            <a:r>
              <a:rPr lang="es-ES" sz="1600" dirty="0" err="1"/>
              <a:t>biosensado</a:t>
            </a:r>
            <a:r>
              <a:rPr lang="es-ES" sz="1600" dirty="0"/>
              <a:t>. Por un lado, esta el brazo de referencia y por el otro está el otro brazo que se deja expuesto al medio que se desee analizar. Dependiendo del fluido que lo recubra, cambiará el índice efectivo y por lo tanto un desplazamiento en el espectro. A partir de la medida de este desplazamiento, se podría deducir la concentración de la sustancia detectada.</a:t>
            </a:r>
          </a:p>
          <a:p>
            <a:pPr algn="just"/>
            <a:endParaRPr lang="es-ES" sz="1600" dirty="0"/>
          </a:p>
        </p:txBody>
      </p:sp>
    </p:spTree>
    <p:extLst>
      <p:ext uri="{BB962C8B-B14F-4D97-AF65-F5344CB8AC3E}">
        <p14:creationId xmlns:p14="http://schemas.microsoft.com/office/powerpoint/2010/main" val="3704534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7BE13-3888-A747-ECCF-71DFC22514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C50859F-5E45-EAA1-170C-8ACCBF56DFF3}"/>
              </a:ext>
            </a:extLst>
          </p:cNvPr>
          <p:cNvSpPr>
            <a:spLocks noGrp="1"/>
          </p:cNvSpPr>
          <p:nvPr>
            <p:ph type="title"/>
          </p:nvPr>
        </p:nvSpPr>
        <p:spPr>
          <a:xfrm>
            <a:off x="600075" y="316301"/>
            <a:ext cx="10991850" cy="307777"/>
          </a:xfrm>
        </p:spPr>
        <p:txBody>
          <a:bodyPr/>
          <a:lstStyle/>
          <a:p>
            <a:r>
              <a:rPr lang="es-ES" dirty="0"/>
              <a:t>RESULTADO ADVANCED LEVEL ASSESSMENT </a:t>
            </a:r>
          </a:p>
        </p:txBody>
      </p:sp>
      <p:sp>
        <p:nvSpPr>
          <p:cNvPr id="4" name="Marcador de pie de página 3">
            <a:extLst>
              <a:ext uri="{FF2B5EF4-FFF2-40B4-BE49-F238E27FC236}">
                <a16:creationId xmlns:a16="http://schemas.microsoft.com/office/drawing/2014/main" id="{8B4ECF35-CE5C-0926-D19B-A7DEEF586E70}"/>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CE84149E-8E98-0C13-E67C-0B7B08661B49}"/>
              </a:ext>
            </a:extLst>
          </p:cNvPr>
          <p:cNvSpPr>
            <a:spLocks noGrp="1"/>
          </p:cNvSpPr>
          <p:nvPr>
            <p:ph type="sldNum" sz="quarter" idx="7"/>
          </p:nvPr>
        </p:nvSpPr>
        <p:spPr/>
        <p:txBody>
          <a:bodyPr/>
          <a:lstStyle/>
          <a:p>
            <a:fld id="{B6F15528-21DE-4FAA-801E-634DDDAF4B2B}" type="slidenum">
              <a:rPr lang="es-ES" smtClean="0"/>
              <a:t>12</a:t>
            </a:fld>
            <a:endParaRPr lang="es-ES"/>
          </a:p>
        </p:txBody>
      </p:sp>
      <p:pic>
        <p:nvPicPr>
          <p:cNvPr id="6" name="Imagen 5">
            <a:extLst>
              <a:ext uri="{FF2B5EF4-FFF2-40B4-BE49-F238E27FC236}">
                <a16:creationId xmlns:a16="http://schemas.microsoft.com/office/drawing/2014/main" id="{2A551314-E0D9-46A0-BBBA-CF30ADFEE090}"/>
              </a:ext>
            </a:extLst>
          </p:cNvPr>
          <p:cNvPicPr>
            <a:picLocks noChangeAspect="1"/>
          </p:cNvPicPr>
          <p:nvPr/>
        </p:nvPicPr>
        <p:blipFill>
          <a:blip r:embed="rId2"/>
          <a:stretch>
            <a:fillRect/>
          </a:stretch>
        </p:blipFill>
        <p:spPr>
          <a:xfrm>
            <a:off x="152400" y="1331046"/>
            <a:ext cx="5607168" cy="3595687"/>
          </a:xfrm>
          <a:prstGeom prst="rect">
            <a:avLst/>
          </a:prstGeom>
        </p:spPr>
      </p:pic>
      <p:sp>
        <p:nvSpPr>
          <p:cNvPr id="8" name="CuadroTexto 7">
            <a:extLst>
              <a:ext uri="{FF2B5EF4-FFF2-40B4-BE49-F238E27FC236}">
                <a16:creationId xmlns:a16="http://schemas.microsoft.com/office/drawing/2014/main" id="{18ED49D3-29B8-83D5-9393-87321B6E87DC}"/>
              </a:ext>
            </a:extLst>
          </p:cNvPr>
          <p:cNvSpPr txBox="1"/>
          <p:nvPr/>
        </p:nvSpPr>
        <p:spPr>
          <a:xfrm>
            <a:off x="6096000" y="1236064"/>
            <a:ext cx="5705668" cy="3785652"/>
          </a:xfrm>
          <a:prstGeom prst="rect">
            <a:avLst/>
          </a:prstGeom>
          <a:noFill/>
        </p:spPr>
        <p:txBody>
          <a:bodyPr wrap="square">
            <a:spAutoFit/>
          </a:bodyPr>
          <a:lstStyle/>
          <a:p>
            <a:pPr algn="just"/>
            <a:r>
              <a:rPr lang="es-ES" sz="1600" dirty="0"/>
              <a:t>Tenemos un sistema con dos MZI en serie configurados con desbalances de longitud distintos, esto genera periodicidades diferentes (FSR de 40 nm y 50 nm). En la gráfica, los dos MZI han sido sintonizados para que uno de sus picos de máxima transmisión coincida exactamente en 1550 nm. Al multiplicar sus respuestas individuales para obtener la función de transferencia global del sistema en cascada, se produce el efecto Vernier. </a:t>
            </a:r>
          </a:p>
          <a:p>
            <a:pPr algn="just"/>
            <a:endParaRPr lang="es-ES" sz="1600" dirty="0"/>
          </a:p>
          <a:p>
            <a:pPr algn="just"/>
            <a:r>
              <a:rPr lang="es-ES" sz="1600" dirty="0"/>
              <a:t>En las longitudes de onda adyacentes a 1550nm, la diferencia de FSR provoca que los picos se desalineen, haciendo que un MZI atenúe la luz que el otro intenta dejar pasar. Este fenómeno suprime los lóbulos laterales (como se aprecia en la fuerte atenuación de las crestas secundarias en 1.515 </a:t>
            </a:r>
            <a:r>
              <a:rPr lang="es-ES" sz="1600" dirty="0" err="1"/>
              <a:t>um</a:t>
            </a:r>
            <a:r>
              <a:rPr lang="es-ES" sz="1600" dirty="0"/>
              <a:t> y 1.585 </a:t>
            </a:r>
            <a:r>
              <a:rPr lang="es-ES" sz="1600" dirty="0" err="1"/>
              <a:t>um</a:t>
            </a:r>
            <a:r>
              <a:rPr lang="es-ES" sz="1600" dirty="0"/>
              <a:t>).</a:t>
            </a:r>
          </a:p>
          <a:p>
            <a:pPr algn="just"/>
            <a:r>
              <a:rPr lang="es-ES" sz="1600" dirty="0"/>
              <a:t>Esto convierte al sistema en un filtro óptico que aísla la banda central y aumenta el FSR del dispositivo.</a:t>
            </a:r>
          </a:p>
        </p:txBody>
      </p:sp>
    </p:spTree>
    <p:extLst>
      <p:ext uri="{BB962C8B-B14F-4D97-AF65-F5344CB8AC3E}">
        <p14:creationId xmlns:p14="http://schemas.microsoft.com/office/powerpoint/2010/main" val="1823125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1559</TotalTime>
  <Words>1771</Words>
  <Application>Microsoft Office PowerPoint</Application>
  <PresentationFormat>Panorámica</PresentationFormat>
  <Paragraphs>120</Paragraphs>
  <Slides>13</Slides>
  <Notes>4</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13</vt:i4>
      </vt:variant>
    </vt:vector>
  </HeadingPairs>
  <TitlesOfParts>
    <vt:vector size="22" baseType="lpstr">
      <vt:lpstr>Aptos</vt:lpstr>
      <vt:lpstr>Arial</vt:lpstr>
      <vt:lpstr>Calibri</vt:lpstr>
      <vt:lpstr>Cambria Math</vt:lpstr>
      <vt:lpstr>Courier New</vt:lpstr>
      <vt:lpstr>Google Sans Text</vt:lpstr>
      <vt:lpstr>Lucida Sans</vt:lpstr>
      <vt:lpstr>Wingdings</vt:lpstr>
      <vt:lpstr>Office Theme</vt:lpstr>
      <vt:lpstr>Presentación de PowerPoint</vt:lpstr>
      <vt:lpstr>Instructions General</vt:lpstr>
      <vt:lpstr>ASSESSMENT #1 – Recap from theory – MZI configurations </vt:lpstr>
      <vt:lpstr>RESULTADOS ASSESSMENT 1</vt:lpstr>
      <vt:lpstr>RESULTADOS ASSESSMENT 1</vt:lpstr>
      <vt:lpstr>ASSESSMENT #2 – Recap from theory – Calculation of ΔL  </vt:lpstr>
      <vt:lpstr>ASSESSMENT #3 – SAX implementation  </vt:lpstr>
      <vt:lpstr>RESULTADO ASSESSMENT 3</vt:lpstr>
      <vt:lpstr>Extra assessments </vt:lpstr>
      <vt:lpstr>RESULTADO ASSESSMENT 4</vt:lpstr>
      <vt:lpstr>RESULTADO ASSESSMENT 5</vt:lpstr>
      <vt:lpstr>RESULTADO ADVANCED LEVEL ASSESSMENT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Maria Julve Benages</cp:lastModifiedBy>
  <cp:revision>24</cp:revision>
  <dcterms:created xsi:type="dcterms:W3CDTF">2025-01-27T02:46:57Z</dcterms:created>
  <dcterms:modified xsi:type="dcterms:W3CDTF">2026-03-22T16:41:16Z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